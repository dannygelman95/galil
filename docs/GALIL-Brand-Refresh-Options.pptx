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634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asks for four decisions: one logo direction, one colour palette, one type pairing, and confirmation that green stays primary. Everything else follows from those four.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refresh is not cosmetic. The current mark cannot be used in an application interface or as a favicon, and that is now a practical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Specimens render in whichever of these fonts is installed on the viewing machine. If a specimen looks identical to the others, that font is not installed locally; the recommendation is unaffected.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10F"/>
        </a:solidFill>
        <a:effectLst/>
      </p:bgPr>
    </p:bg>
    <p:spTree>
      <p:nvGrpSpPr>
        <p:cNvPr id="1" name=""/>
        <p:cNvGrpSpPr/>
        <p:nvPr/>
      </p:nvGrpSpPr>
      <p:grpSpPr>
        <a:xfrm>
          <a:off x="0" y="0"/>
          <a:ext cx="0" cy="0"/>
          <a:chOff x="0" y="0"/>
          <a:chExt cx="0" cy="0"/>
        </a:xfrm>
      </p:grpSpPr>
      <p:sp>
        <p:nvSpPr>
          <p:cNvPr id="2" name="Shape 0"/>
          <p:cNvSpPr/>
          <p:nvPr/>
        </p:nvSpPr>
        <p:spPr>
          <a:xfrm>
            <a:off x="8778240" y="-1737360"/>
            <a:ext cx="5852160" cy="5852160"/>
          </a:xfrm>
          <a:prstGeom prst="ellipse">
            <a:avLst/>
          </a:prstGeom>
          <a:solidFill>
            <a:srgbClr val="8CC63E">
              <a:alpha val="12000"/>
            </a:srgbClr>
          </a:solidFill>
          <a:ln/>
        </p:spPr>
        <p:txBody>
          <a:bodyPr/>
          <a:lstStyle/>
          <a:p>
            <a:endParaRPr lang="en-US"/>
          </a:p>
        </p:txBody>
      </p:sp>
      <p:sp>
        <p:nvSpPr>
          <p:cNvPr id="3" name="Shape 1"/>
          <p:cNvSpPr/>
          <p:nvPr/>
        </p:nvSpPr>
        <p:spPr>
          <a:xfrm>
            <a:off x="10058400" y="3291840"/>
            <a:ext cx="3840480" cy="3840480"/>
          </a:xfrm>
          <a:prstGeom prst="ellipse">
            <a:avLst/>
          </a:prstGeom>
          <a:solidFill>
            <a:srgbClr val="8CC63E">
              <a:alpha val="8000"/>
            </a:srgbClr>
          </a:solidFill>
          <a:ln/>
        </p:spPr>
        <p:txBody>
          <a:bodyPr/>
          <a:lstStyle/>
          <a:p>
            <a:endParaRPr lang="en-US"/>
          </a:p>
        </p:txBody>
      </p:sp>
      <p:pic>
        <p:nvPicPr>
          <p:cNvPr id="4" name="Image 0" descr="/home/claude/build/img/logo-bracket-rev.png"/>
          <p:cNvPicPr>
            <a:picLocks noChangeAspect="1"/>
          </p:cNvPicPr>
          <p:nvPr/>
        </p:nvPicPr>
        <p:blipFill>
          <a:blip r:embed="rId3"/>
          <a:stretch>
            <a:fillRect/>
          </a:stretch>
        </p:blipFill>
        <p:spPr>
          <a:xfrm>
            <a:off x="566928" y="1051560"/>
            <a:ext cx="1051560" cy="1051560"/>
          </a:xfrm>
          <a:prstGeom prst="rect">
            <a:avLst/>
          </a:prstGeom>
        </p:spPr>
      </p:pic>
      <p:sp>
        <p:nvSpPr>
          <p:cNvPr id="5" name="Text 2"/>
          <p:cNvSpPr txBox="1"/>
          <p:nvPr/>
        </p:nvSpPr>
        <p:spPr>
          <a:xfrm>
            <a:off x="566928" y="2286000"/>
            <a:ext cx="8229600" cy="1005840"/>
          </a:xfrm>
          <a:prstGeom prst="rect">
            <a:avLst/>
          </a:prstGeom>
          <a:noFill/>
          <a:ln/>
        </p:spPr>
        <p:txBody>
          <a:bodyPr wrap="square" lIns="0" tIns="0" rIns="0" bIns="0" rtlCol="0" anchor="ctr"/>
          <a:lstStyle/>
          <a:p>
            <a:pPr marL="0" indent="0">
              <a:buNone/>
            </a:pPr>
            <a:r>
              <a:rPr lang="en-US" sz="6200" b="1" kern="0" spc="300" dirty="0">
                <a:solidFill>
                  <a:srgbClr val="FFFFFF"/>
                </a:solidFill>
                <a:latin typeface="Calibri" pitchFamily="34" charset="0"/>
                <a:ea typeface="Calibri" pitchFamily="34" charset="-122"/>
                <a:cs typeface="Calibri" pitchFamily="34" charset="-120"/>
              </a:rPr>
              <a:t>GALIL</a:t>
            </a:r>
            <a:endParaRPr lang="en-US" sz="6200" dirty="0"/>
          </a:p>
        </p:txBody>
      </p:sp>
      <p:sp>
        <p:nvSpPr>
          <p:cNvPr id="6" name="Text 3"/>
          <p:cNvSpPr txBox="1"/>
          <p:nvPr/>
        </p:nvSpPr>
        <p:spPr>
          <a:xfrm>
            <a:off x="566928" y="3337560"/>
            <a:ext cx="8229600" cy="457200"/>
          </a:xfrm>
          <a:prstGeom prst="rect">
            <a:avLst/>
          </a:prstGeom>
          <a:noFill/>
          <a:ln/>
        </p:spPr>
        <p:txBody>
          <a:bodyPr wrap="square" lIns="0" tIns="0" rIns="0" bIns="0" rtlCol="0" anchor="ctr"/>
          <a:lstStyle/>
          <a:p>
            <a:pPr marL="0" indent="0">
              <a:buNone/>
            </a:pPr>
            <a:r>
              <a:rPr lang="en-US" sz="2400" dirty="0">
                <a:solidFill>
                  <a:srgbClr val="8CC63E"/>
                </a:solidFill>
                <a:latin typeface="Calibri" pitchFamily="34" charset="0"/>
                <a:ea typeface="Calibri" pitchFamily="34" charset="-122"/>
                <a:cs typeface="Calibri" pitchFamily="34" charset="-120"/>
              </a:rPr>
              <a:t>Brand refresh · options for decision</a:t>
            </a:r>
            <a:endParaRPr lang="en-US" sz="2400" dirty="0"/>
          </a:p>
        </p:txBody>
      </p:sp>
      <p:sp>
        <p:nvSpPr>
          <p:cNvPr id="7" name="Text 4"/>
          <p:cNvSpPr txBox="1"/>
          <p:nvPr/>
        </p:nvSpPr>
        <p:spPr>
          <a:xfrm>
            <a:off x="566928" y="3977640"/>
            <a:ext cx="6949440" cy="822960"/>
          </a:xfrm>
          <a:prstGeom prst="rect">
            <a:avLst/>
          </a:prstGeom>
          <a:noFill/>
          <a:ln/>
        </p:spPr>
        <p:txBody>
          <a:bodyPr wrap="square" lIns="0" tIns="0" rIns="0" bIns="0" rtlCol="0" anchor="ctr"/>
          <a:lstStyle/>
          <a:p>
            <a:pPr marL="0" indent="0">
              <a:lnSpc>
                <a:spcPct val="125000"/>
              </a:lnSpc>
              <a:buNone/>
            </a:pPr>
            <a:r>
              <a:rPr lang="en-US" sz="1500" dirty="0">
                <a:solidFill>
                  <a:srgbClr val="AFC49F"/>
                </a:solidFill>
                <a:latin typeface="Calibri" pitchFamily="34" charset="0"/>
                <a:ea typeface="Calibri" pitchFamily="34" charset="-122"/>
                <a:cs typeface="Calibri" pitchFamily="34" charset="-120"/>
              </a:rPr>
              <a:t>Logo directions, colour system, typography, and how each choice carries into the website and into WorkDesk.</a:t>
            </a:r>
            <a:endParaRPr lang="en-US" sz="1500" dirty="0"/>
          </a:p>
        </p:txBody>
      </p:sp>
      <p:sp>
        <p:nvSpPr>
          <p:cNvPr id="8" name="Text 5"/>
          <p:cNvSpPr txBox="1"/>
          <p:nvPr/>
        </p:nvSpPr>
        <p:spPr>
          <a:xfrm>
            <a:off x="566928" y="5989320"/>
            <a:ext cx="8229600" cy="320040"/>
          </a:xfrm>
          <a:prstGeom prst="rect">
            <a:avLst/>
          </a:prstGeom>
          <a:noFill/>
          <a:ln/>
        </p:spPr>
        <p:txBody>
          <a:bodyPr wrap="square" lIns="0" tIns="0" rIns="0" bIns="0" rtlCol="0" anchor="ctr"/>
          <a:lstStyle/>
          <a:p>
            <a:pPr marL="0" indent="0">
              <a:buNone/>
            </a:pPr>
            <a:r>
              <a:rPr lang="en-US" sz="1200" dirty="0">
                <a:solidFill>
                  <a:srgbClr val="7E9270"/>
                </a:solidFill>
                <a:latin typeface="Calibri" pitchFamily="34" charset="0"/>
                <a:ea typeface="Calibri" pitchFamily="34" charset="-122"/>
                <a:cs typeface="Calibri" pitchFamily="34" charset="-120"/>
              </a:rPr>
              <a:t>Prepared for the CEO and management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What we are deciding</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Four choices. Everything downstream — website, WorkDesk, documents, email signatures — follows from these.</a:t>
            </a:r>
            <a:endParaRPr lang="en-US" sz="1500" dirty="0"/>
          </a:p>
        </p:txBody>
      </p:sp>
      <p:sp>
        <p:nvSpPr>
          <p:cNvPr id="4" name="Shape 2"/>
          <p:cNvSpPr/>
          <p:nvPr/>
        </p:nvSpPr>
        <p:spPr>
          <a:xfrm>
            <a:off x="566928" y="1783080"/>
            <a:ext cx="5349240" cy="1783080"/>
          </a:xfrm>
          <a:prstGeom prst="roundRect">
            <a:avLst>
              <a:gd name="adj" fmla="val 4615"/>
            </a:avLst>
          </a:prstGeom>
          <a:solidFill>
            <a:srgbClr val="F2F8E9"/>
          </a:solidFill>
          <a:ln w="12700">
            <a:solidFill>
              <a:srgbClr val="D8E7C4"/>
            </a:solidFill>
            <a:prstDash val="solid"/>
          </a:ln>
        </p:spPr>
        <p:txBody>
          <a:bodyPr/>
          <a:lstStyle/>
          <a:p>
            <a:endParaRPr lang="en-US"/>
          </a:p>
        </p:txBody>
      </p:sp>
      <p:sp>
        <p:nvSpPr>
          <p:cNvPr id="5" name="Shape 3"/>
          <p:cNvSpPr/>
          <p:nvPr/>
        </p:nvSpPr>
        <p:spPr>
          <a:xfrm>
            <a:off x="886968" y="2103120"/>
            <a:ext cx="420624" cy="420624"/>
          </a:xfrm>
          <a:prstGeom prst="ellipse">
            <a:avLst/>
          </a:prstGeom>
          <a:solidFill>
            <a:srgbClr val="8CC63E"/>
          </a:solidFill>
          <a:ln/>
        </p:spPr>
        <p:txBody>
          <a:bodyPr/>
          <a:lstStyle/>
          <a:p>
            <a:endParaRPr lang="en-US"/>
          </a:p>
        </p:txBody>
      </p:sp>
      <p:sp>
        <p:nvSpPr>
          <p:cNvPr id="6" name="Text 4"/>
          <p:cNvSpPr txBox="1"/>
          <p:nvPr/>
        </p:nvSpPr>
        <p:spPr>
          <a:xfrm>
            <a:off x="886968" y="21031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81328" y="2084832"/>
            <a:ext cx="4114800" cy="384048"/>
          </a:xfrm>
          <a:prstGeom prst="rect">
            <a:avLst/>
          </a:prstGeom>
          <a:noFill/>
          <a:ln/>
        </p:spPr>
        <p:txBody>
          <a:bodyPr wrap="square" lIns="0" tIns="0" rIns="0" bIns="0" rtlCol="0" anchor="ctr"/>
          <a:lstStyle/>
          <a:p>
            <a:pPr marL="0" indent="0">
              <a:buNone/>
            </a:pPr>
            <a:r>
              <a:rPr lang="en-US" sz="2000" b="1" dirty="0">
                <a:solidFill>
                  <a:srgbClr val="1B2A18"/>
                </a:solidFill>
                <a:latin typeface="Calibri" pitchFamily="34" charset="0"/>
                <a:ea typeface="Calibri" pitchFamily="34" charset="-122"/>
                <a:cs typeface="Calibri" pitchFamily="34" charset="-120"/>
              </a:rPr>
              <a:t>The mark</a:t>
            </a:r>
            <a:endParaRPr lang="en-US" sz="2000" dirty="0"/>
          </a:p>
        </p:txBody>
      </p:sp>
      <p:sp>
        <p:nvSpPr>
          <p:cNvPr id="8" name="Text 6"/>
          <p:cNvSpPr txBox="1"/>
          <p:nvPr/>
        </p:nvSpPr>
        <p:spPr>
          <a:xfrm>
            <a:off x="1481328" y="2532888"/>
            <a:ext cx="4206240" cy="868680"/>
          </a:xfrm>
          <a:prstGeom prst="rect">
            <a:avLst/>
          </a:prstGeom>
          <a:noFill/>
          <a:ln/>
        </p:spPr>
        <p:txBody>
          <a:bodyPr wrap="square" lIns="0" tIns="0" rIns="0" bIns="0" rtlCol="0" anchor="ctr"/>
          <a:lstStyle/>
          <a:p>
            <a:pPr marL="0" indent="0">
              <a:lnSpc>
                <a:spcPct val="125000"/>
              </a:lnSpc>
              <a:buNone/>
            </a:pPr>
            <a:r>
              <a:rPr lang="en-US" sz="1400" dirty="0">
                <a:solidFill>
                  <a:srgbClr val="5B6B57"/>
                </a:solidFill>
                <a:latin typeface="Calibri" pitchFamily="34" charset="0"/>
                <a:ea typeface="Calibri" pitchFamily="34" charset="-122"/>
                <a:cs typeface="Calibri" pitchFamily="34" charset="-120"/>
              </a:rPr>
              <a:t>Six logo directions on the following slides. Pick one to develop, or two to test.</a:t>
            </a:r>
            <a:endParaRPr lang="en-US" sz="1400" dirty="0"/>
          </a:p>
        </p:txBody>
      </p:sp>
      <p:sp>
        <p:nvSpPr>
          <p:cNvPr id="9" name="Shape 7"/>
          <p:cNvSpPr/>
          <p:nvPr/>
        </p:nvSpPr>
        <p:spPr>
          <a:xfrm>
            <a:off x="6236208" y="1783080"/>
            <a:ext cx="5349240" cy="1783080"/>
          </a:xfrm>
          <a:prstGeom prst="roundRect">
            <a:avLst>
              <a:gd name="adj" fmla="val 4615"/>
            </a:avLst>
          </a:prstGeom>
          <a:solidFill>
            <a:srgbClr val="F2F8E9"/>
          </a:solidFill>
          <a:ln w="12700">
            <a:solidFill>
              <a:srgbClr val="D8E7C4"/>
            </a:solidFill>
            <a:prstDash val="solid"/>
          </a:ln>
        </p:spPr>
        <p:txBody>
          <a:bodyPr/>
          <a:lstStyle/>
          <a:p>
            <a:endParaRPr lang="en-US"/>
          </a:p>
        </p:txBody>
      </p:sp>
      <p:sp>
        <p:nvSpPr>
          <p:cNvPr id="10" name="Shape 8"/>
          <p:cNvSpPr/>
          <p:nvPr/>
        </p:nvSpPr>
        <p:spPr>
          <a:xfrm>
            <a:off x="6556248" y="2103120"/>
            <a:ext cx="420624" cy="420624"/>
          </a:xfrm>
          <a:prstGeom prst="ellipse">
            <a:avLst/>
          </a:prstGeom>
          <a:solidFill>
            <a:srgbClr val="8CC63E"/>
          </a:solidFill>
          <a:ln/>
        </p:spPr>
        <p:txBody>
          <a:bodyPr/>
          <a:lstStyle/>
          <a:p>
            <a:endParaRPr lang="en-US"/>
          </a:p>
        </p:txBody>
      </p:sp>
      <p:sp>
        <p:nvSpPr>
          <p:cNvPr id="11" name="Text 9"/>
          <p:cNvSpPr txBox="1"/>
          <p:nvPr/>
        </p:nvSpPr>
        <p:spPr>
          <a:xfrm>
            <a:off x="6556248" y="21031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150608" y="2084832"/>
            <a:ext cx="4114800" cy="384048"/>
          </a:xfrm>
          <a:prstGeom prst="rect">
            <a:avLst/>
          </a:prstGeom>
          <a:noFill/>
          <a:ln/>
        </p:spPr>
        <p:txBody>
          <a:bodyPr wrap="square" lIns="0" tIns="0" rIns="0" bIns="0" rtlCol="0" anchor="ctr"/>
          <a:lstStyle/>
          <a:p>
            <a:pPr marL="0" indent="0">
              <a:buNone/>
            </a:pPr>
            <a:r>
              <a:rPr lang="en-US" sz="2000" b="1" dirty="0">
                <a:solidFill>
                  <a:srgbClr val="1B2A18"/>
                </a:solidFill>
                <a:latin typeface="Calibri" pitchFamily="34" charset="0"/>
                <a:ea typeface="Calibri" pitchFamily="34" charset="-122"/>
                <a:cs typeface="Calibri" pitchFamily="34" charset="-120"/>
              </a:rPr>
              <a:t>The palette</a:t>
            </a:r>
            <a:endParaRPr lang="en-US" sz="2000" dirty="0"/>
          </a:p>
        </p:txBody>
      </p:sp>
      <p:sp>
        <p:nvSpPr>
          <p:cNvPr id="13" name="Text 11"/>
          <p:cNvSpPr txBox="1"/>
          <p:nvPr/>
        </p:nvSpPr>
        <p:spPr>
          <a:xfrm>
            <a:off x="7150608" y="2532888"/>
            <a:ext cx="4206240" cy="868680"/>
          </a:xfrm>
          <a:prstGeom prst="rect">
            <a:avLst/>
          </a:prstGeom>
          <a:noFill/>
          <a:ln/>
        </p:spPr>
        <p:txBody>
          <a:bodyPr wrap="square" lIns="0" tIns="0" rIns="0" bIns="0" rtlCol="0" anchor="ctr"/>
          <a:lstStyle/>
          <a:p>
            <a:pPr marL="0" indent="0">
              <a:lnSpc>
                <a:spcPct val="125000"/>
              </a:lnSpc>
              <a:buNone/>
            </a:pPr>
            <a:r>
              <a:rPr lang="en-US" sz="1400" dirty="0">
                <a:solidFill>
                  <a:srgbClr val="5B6B57"/>
                </a:solidFill>
                <a:latin typeface="Calibri" pitchFamily="34" charset="0"/>
                <a:ea typeface="Calibri" pitchFamily="34" charset="-122"/>
                <a:cs typeface="Calibri" pitchFamily="34" charset="-120"/>
              </a:rPr>
              <a:t>Three colour systems, all built around the existing company green.</a:t>
            </a:r>
            <a:endParaRPr lang="en-US" sz="1400" dirty="0"/>
          </a:p>
        </p:txBody>
      </p:sp>
      <p:sp>
        <p:nvSpPr>
          <p:cNvPr id="14" name="Shape 12"/>
          <p:cNvSpPr/>
          <p:nvPr/>
        </p:nvSpPr>
        <p:spPr>
          <a:xfrm>
            <a:off x="566928" y="3886200"/>
            <a:ext cx="5349240" cy="1783080"/>
          </a:xfrm>
          <a:prstGeom prst="roundRect">
            <a:avLst>
              <a:gd name="adj" fmla="val 4615"/>
            </a:avLst>
          </a:prstGeom>
          <a:solidFill>
            <a:srgbClr val="F2F8E9"/>
          </a:solidFill>
          <a:ln w="12700">
            <a:solidFill>
              <a:srgbClr val="D8E7C4"/>
            </a:solidFill>
            <a:prstDash val="solid"/>
          </a:ln>
        </p:spPr>
        <p:txBody>
          <a:bodyPr/>
          <a:lstStyle/>
          <a:p>
            <a:endParaRPr lang="en-US"/>
          </a:p>
        </p:txBody>
      </p:sp>
      <p:sp>
        <p:nvSpPr>
          <p:cNvPr id="15" name="Shape 13"/>
          <p:cNvSpPr/>
          <p:nvPr/>
        </p:nvSpPr>
        <p:spPr>
          <a:xfrm>
            <a:off x="886968" y="4206240"/>
            <a:ext cx="420624" cy="420624"/>
          </a:xfrm>
          <a:prstGeom prst="ellipse">
            <a:avLst/>
          </a:prstGeom>
          <a:solidFill>
            <a:srgbClr val="8CC63E"/>
          </a:solidFill>
          <a:ln/>
        </p:spPr>
        <p:txBody>
          <a:bodyPr/>
          <a:lstStyle/>
          <a:p>
            <a:endParaRPr lang="en-US"/>
          </a:p>
        </p:txBody>
      </p:sp>
      <p:sp>
        <p:nvSpPr>
          <p:cNvPr id="16" name="Text 14"/>
          <p:cNvSpPr txBox="1"/>
          <p:nvPr/>
        </p:nvSpPr>
        <p:spPr>
          <a:xfrm>
            <a:off x="886968" y="4206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81328" y="4187952"/>
            <a:ext cx="4114800" cy="384048"/>
          </a:xfrm>
          <a:prstGeom prst="rect">
            <a:avLst/>
          </a:prstGeom>
          <a:noFill/>
          <a:ln/>
        </p:spPr>
        <p:txBody>
          <a:bodyPr wrap="square" lIns="0" tIns="0" rIns="0" bIns="0" rtlCol="0" anchor="ctr"/>
          <a:lstStyle/>
          <a:p>
            <a:pPr marL="0" indent="0">
              <a:buNone/>
            </a:pPr>
            <a:r>
              <a:rPr lang="en-US" sz="2000" b="1" dirty="0">
                <a:solidFill>
                  <a:srgbClr val="1B2A18"/>
                </a:solidFill>
                <a:latin typeface="Calibri" pitchFamily="34" charset="0"/>
                <a:ea typeface="Calibri" pitchFamily="34" charset="-122"/>
                <a:cs typeface="Calibri" pitchFamily="34" charset="-120"/>
              </a:rPr>
              <a:t>The typeface</a:t>
            </a:r>
            <a:endParaRPr lang="en-US" sz="2000" dirty="0"/>
          </a:p>
        </p:txBody>
      </p:sp>
      <p:sp>
        <p:nvSpPr>
          <p:cNvPr id="18" name="Text 16"/>
          <p:cNvSpPr txBox="1"/>
          <p:nvPr/>
        </p:nvSpPr>
        <p:spPr>
          <a:xfrm>
            <a:off x="1481328" y="4636008"/>
            <a:ext cx="4206240" cy="868680"/>
          </a:xfrm>
          <a:prstGeom prst="rect">
            <a:avLst/>
          </a:prstGeom>
          <a:noFill/>
          <a:ln/>
        </p:spPr>
        <p:txBody>
          <a:bodyPr wrap="square" lIns="0" tIns="0" rIns="0" bIns="0" rtlCol="0" anchor="ctr"/>
          <a:lstStyle/>
          <a:p>
            <a:pPr marL="0" indent="0">
              <a:lnSpc>
                <a:spcPct val="125000"/>
              </a:lnSpc>
              <a:buNone/>
            </a:pPr>
            <a:r>
              <a:rPr lang="en-US" sz="1400" dirty="0">
                <a:solidFill>
                  <a:srgbClr val="5B6B57"/>
                </a:solidFill>
                <a:latin typeface="Calibri" pitchFamily="34" charset="0"/>
                <a:ea typeface="Calibri" pitchFamily="34" charset="-122"/>
                <a:cs typeface="Calibri" pitchFamily="34" charset="-120"/>
              </a:rPr>
              <a:t>Three pairings. Noto Sans leads the recommendation.</a:t>
            </a:r>
            <a:endParaRPr lang="en-US" sz="1400" dirty="0"/>
          </a:p>
        </p:txBody>
      </p:sp>
      <p:sp>
        <p:nvSpPr>
          <p:cNvPr id="19" name="Shape 17"/>
          <p:cNvSpPr/>
          <p:nvPr/>
        </p:nvSpPr>
        <p:spPr>
          <a:xfrm>
            <a:off x="6236208" y="3886200"/>
            <a:ext cx="5349240" cy="1783080"/>
          </a:xfrm>
          <a:prstGeom prst="roundRect">
            <a:avLst>
              <a:gd name="adj" fmla="val 4615"/>
            </a:avLst>
          </a:prstGeom>
          <a:solidFill>
            <a:srgbClr val="F2F8E9"/>
          </a:solidFill>
          <a:ln w="12700">
            <a:solidFill>
              <a:srgbClr val="D8E7C4"/>
            </a:solidFill>
            <a:prstDash val="solid"/>
          </a:ln>
        </p:spPr>
        <p:txBody>
          <a:bodyPr/>
          <a:lstStyle/>
          <a:p>
            <a:endParaRPr lang="en-US"/>
          </a:p>
        </p:txBody>
      </p:sp>
      <p:sp>
        <p:nvSpPr>
          <p:cNvPr id="20" name="Shape 18"/>
          <p:cNvSpPr/>
          <p:nvPr/>
        </p:nvSpPr>
        <p:spPr>
          <a:xfrm>
            <a:off x="6556248" y="4206240"/>
            <a:ext cx="420624" cy="420624"/>
          </a:xfrm>
          <a:prstGeom prst="ellipse">
            <a:avLst/>
          </a:prstGeom>
          <a:solidFill>
            <a:srgbClr val="8CC63E"/>
          </a:solidFill>
          <a:ln/>
        </p:spPr>
        <p:txBody>
          <a:bodyPr/>
          <a:lstStyle/>
          <a:p>
            <a:endParaRPr lang="en-US"/>
          </a:p>
        </p:txBody>
      </p:sp>
      <p:sp>
        <p:nvSpPr>
          <p:cNvPr id="21" name="Text 19"/>
          <p:cNvSpPr txBox="1"/>
          <p:nvPr/>
        </p:nvSpPr>
        <p:spPr>
          <a:xfrm>
            <a:off x="6556248" y="4206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150608" y="4187952"/>
            <a:ext cx="4114800" cy="384048"/>
          </a:xfrm>
          <a:prstGeom prst="rect">
            <a:avLst/>
          </a:prstGeom>
          <a:noFill/>
          <a:ln/>
        </p:spPr>
        <p:txBody>
          <a:bodyPr wrap="square" lIns="0" tIns="0" rIns="0" bIns="0" rtlCol="0" anchor="ctr"/>
          <a:lstStyle/>
          <a:p>
            <a:pPr marL="0" indent="0">
              <a:buNone/>
            </a:pPr>
            <a:r>
              <a:rPr lang="en-US" sz="2000" b="1" dirty="0">
                <a:solidFill>
                  <a:srgbClr val="1B2A18"/>
                </a:solidFill>
                <a:latin typeface="Calibri" pitchFamily="34" charset="0"/>
                <a:ea typeface="Calibri" pitchFamily="34" charset="-122"/>
                <a:cs typeface="Calibri" pitchFamily="34" charset="-120"/>
              </a:rPr>
              <a:t>The wordmark</a:t>
            </a:r>
            <a:endParaRPr lang="en-US" sz="2000" dirty="0"/>
          </a:p>
        </p:txBody>
      </p:sp>
      <p:sp>
        <p:nvSpPr>
          <p:cNvPr id="23" name="Text 21"/>
          <p:cNvSpPr txBox="1"/>
          <p:nvPr/>
        </p:nvSpPr>
        <p:spPr>
          <a:xfrm>
            <a:off x="7150608" y="4636008"/>
            <a:ext cx="4206240" cy="868680"/>
          </a:xfrm>
          <a:prstGeom prst="rect">
            <a:avLst/>
          </a:prstGeom>
          <a:noFill/>
          <a:ln/>
        </p:spPr>
        <p:txBody>
          <a:bodyPr wrap="square" lIns="0" tIns="0" rIns="0" bIns="0" rtlCol="0" anchor="ctr"/>
          <a:lstStyle/>
          <a:p>
            <a:pPr marL="0" indent="0">
              <a:lnSpc>
                <a:spcPct val="125000"/>
              </a:lnSpc>
              <a:buNone/>
            </a:pPr>
            <a:r>
              <a:rPr lang="en-US" sz="1400" dirty="0">
                <a:solidFill>
                  <a:srgbClr val="5B6B57"/>
                </a:solidFill>
                <a:latin typeface="Calibri" pitchFamily="34" charset="0"/>
                <a:ea typeface="Calibri" pitchFamily="34" charset="-122"/>
                <a:cs typeface="Calibri" pitchFamily="34" charset="-120"/>
              </a:rPr>
              <a:t>Whether GALIL is set in Latin only, or Latin and Hebrew as a paired lockup.</a:t>
            </a:r>
            <a:endParaRPr lang="en-US" sz="1400" dirty="0"/>
          </a:p>
        </p:txBody>
      </p:sp>
      <p:sp>
        <p:nvSpPr>
          <p:cNvPr id="24" name="Text 22"/>
          <p:cNvSpPr txBox="1"/>
          <p:nvPr/>
        </p:nvSpPr>
        <p:spPr>
          <a:xfrm>
            <a:off x="566928" y="6382512"/>
            <a:ext cx="11027664" cy="274320"/>
          </a:xfrm>
          <a:prstGeom prst="rect">
            <a:avLst/>
          </a:prstGeom>
          <a:noFill/>
          <a:ln/>
        </p:spPr>
        <p:txBody>
          <a:bodyPr wrap="square" lIns="0" tIns="0" rIns="0" bIns="0" rtlCol="0" anchor="ctr"/>
          <a:lstStyle/>
          <a:p>
            <a:pPr marL="0" indent="0">
              <a:buNone/>
            </a:pPr>
            <a:r>
              <a:rPr lang="en-US" sz="1050" dirty="0">
                <a:solidFill>
                  <a:srgbClr val="5B6B57"/>
                </a:solidFill>
                <a:latin typeface="Calibri" pitchFamily="34" charset="0"/>
                <a:ea typeface="Calibri" pitchFamily="34" charset="-122"/>
                <a:cs typeface="Calibri" pitchFamily="34" charset="-120"/>
              </a:rPr>
              <a:t>A decision sheet is on the final slide.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Where the brand is now</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An honest read of the current identity at galiltc.co.il.</a:t>
            </a:r>
            <a:endParaRPr lang="en-US" sz="1500" dirty="0"/>
          </a:p>
        </p:txBody>
      </p:sp>
      <p:sp>
        <p:nvSpPr>
          <p:cNvPr id="4" name="Shape 2"/>
          <p:cNvSpPr/>
          <p:nvPr/>
        </p:nvSpPr>
        <p:spPr>
          <a:xfrm>
            <a:off x="566928" y="1737360"/>
            <a:ext cx="3520440" cy="4023360"/>
          </a:xfrm>
          <a:prstGeom prst="roundRect">
            <a:avLst>
              <a:gd name="adj" fmla="val 2338"/>
            </a:avLst>
          </a:prstGeom>
          <a:solidFill>
            <a:srgbClr val="F2F8E9"/>
          </a:solidFill>
          <a:ln w="12700">
            <a:solidFill>
              <a:srgbClr val="D8E7C4"/>
            </a:solidFill>
            <a:prstDash val="solid"/>
          </a:ln>
        </p:spPr>
        <p:txBody>
          <a:bodyPr/>
          <a:lstStyle/>
          <a:p>
            <a:endParaRPr lang="en-US"/>
          </a:p>
        </p:txBody>
      </p:sp>
      <p:sp>
        <p:nvSpPr>
          <p:cNvPr id="5" name="Shape 3"/>
          <p:cNvSpPr/>
          <p:nvPr/>
        </p:nvSpPr>
        <p:spPr>
          <a:xfrm>
            <a:off x="841248" y="1993392"/>
            <a:ext cx="201168" cy="201168"/>
          </a:xfrm>
          <a:prstGeom prst="ellipse">
            <a:avLst/>
          </a:prstGeom>
          <a:solidFill>
            <a:srgbClr val="8CC63E"/>
          </a:solidFill>
          <a:ln/>
        </p:spPr>
        <p:txBody>
          <a:bodyPr/>
          <a:lstStyle/>
          <a:p>
            <a:endParaRPr lang="en-US"/>
          </a:p>
        </p:txBody>
      </p:sp>
      <p:sp>
        <p:nvSpPr>
          <p:cNvPr id="6" name="Text 4"/>
          <p:cNvSpPr txBox="1"/>
          <p:nvPr/>
        </p:nvSpPr>
        <p:spPr>
          <a:xfrm>
            <a:off x="1133856" y="1901952"/>
            <a:ext cx="2834640" cy="384048"/>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What works</a:t>
            </a:r>
            <a:endParaRPr lang="en-US" sz="1700" dirty="0"/>
          </a:p>
        </p:txBody>
      </p:sp>
      <p:sp>
        <p:nvSpPr>
          <p:cNvPr id="7" name="Text 5"/>
          <p:cNvSpPr txBox="1"/>
          <p:nvPr/>
        </p:nvSpPr>
        <p:spPr>
          <a:xfrm>
            <a:off x="841248" y="2395728"/>
            <a:ext cx="3017520" cy="3200400"/>
          </a:xfrm>
          <a:prstGeom prst="rect">
            <a:avLst/>
          </a:prstGeom>
          <a:noFill/>
          <a:ln/>
        </p:spPr>
        <p:txBody>
          <a:bodyPr wrap="square" lIns="0" tIns="0" rIns="0" bIns="0" rtlCol="0" anchor="ctr"/>
          <a:lstStyle/>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The green is distinctive and already recognised by clients.</a:t>
            </a:r>
            <a:endParaRPr lang="en-US" sz="1250" dirty="0"/>
          </a:p>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The Hebrew brush lettering has real character and warmth.</a:t>
            </a:r>
            <a:endParaRPr lang="en-US" sz="1250" dirty="0"/>
          </a:p>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The bilingual toggle is prominent and correctly placed.</a:t>
            </a:r>
            <a:endParaRPr lang="en-US" sz="1250" dirty="0"/>
          </a:p>
        </p:txBody>
      </p:sp>
      <p:sp>
        <p:nvSpPr>
          <p:cNvPr id="8" name="Shape 6"/>
          <p:cNvSpPr/>
          <p:nvPr/>
        </p:nvSpPr>
        <p:spPr>
          <a:xfrm>
            <a:off x="4334256" y="1737360"/>
            <a:ext cx="3520440" cy="4023360"/>
          </a:xfrm>
          <a:prstGeom prst="roundRect">
            <a:avLst>
              <a:gd name="adj" fmla="val 2338"/>
            </a:avLst>
          </a:prstGeom>
          <a:solidFill>
            <a:srgbClr val="FFFFFF"/>
          </a:solidFill>
          <a:ln w="12700">
            <a:solidFill>
              <a:srgbClr val="D8E7C4"/>
            </a:solidFill>
            <a:prstDash val="solid"/>
          </a:ln>
        </p:spPr>
        <p:txBody>
          <a:bodyPr/>
          <a:lstStyle/>
          <a:p>
            <a:endParaRPr lang="en-US"/>
          </a:p>
        </p:txBody>
      </p:sp>
      <p:sp>
        <p:nvSpPr>
          <p:cNvPr id="9" name="Shape 7"/>
          <p:cNvSpPr/>
          <p:nvPr/>
        </p:nvSpPr>
        <p:spPr>
          <a:xfrm>
            <a:off x="4608576" y="1993392"/>
            <a:ext cx="201168" cy="201168"/>
          </a:xfrm>
          <a:prstGeom prst="ellipse">
            <a:avLst/>
          </a:prstGeom>
          <a:solidFill>
            <a:srgbClr val="E8834A"/>
          </a:solidFill>
          <a:ln/>
        </p:spPr>
        <p:txBody>
          <a:bodyPr/>
          <a:lstStyle/>
          <a:p>
            <a:endParaRPr lang="en-US"/>
          </a:p>
        </p:txBody>
      </p:sp>
      <p:sp>
        <p:nvSpPr>
          <p:cNvPr id="10" name="Text 8"/>
          <p:cNvSpPr txBox="1"/>
          <p:nvPr/>
        </p:nvSpPr>
        <p:spPr>
          <a:xfrm>
            <a:off x="4901184" y="1901952"/>
            <a:ext cx="2834640" cy="384048"/>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What holds it back</a:t>
            </a:r>
            <a:endParaRPr lang="en-US" sz="1700" dirty="0"/>
          </a:p>
        </p:txBody>
      </p:sp>
      <p:sp>
        <p:nvSpPr>
          <p:cNvPr id="11" name="Text 9"/>
          <p:cNvSpPr txBox="1"/>
          <p:nvPr/>
        </p:nvSpPr>
        <p:spPr>
          <a:xfrm>
            <a:off x="4608576" y="2395728"/>
            <a:ext cx="3017520" cy="3200400"/>
          </a:xfrm>
          <a:prstGeom prst="rect">
            <a:avLst/>
          </a:prstGeom>
          <a:noFill/>
          <a:ln/>
        </p:spPr>
        <p:txBody>
          <a:bodyPr wrap="square" lIns="0" tIns="0" rIns="0" bIns="0" rtlCol="0" anchor="ctr"/>
          <a:lstStyle/>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The mark does not survive being made small. At favicon size the lettering is unreadable.</a:t>
            </a:r>
            <a:endParaRPr lang="en-US" sz="1250" dirty="0"/>
          </a:p>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There is no Latin equivalent of the mark, so English-language material has no logo.</a:t>
            </a:r>
            <a:endParaRPr lang="en-US" sz="1250" dirty="0"/>
          </a:p>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The wordmark, the strapline and the sub-line are three competing weights in one block.</a:t>
            </a:r>
            <a:endParaRPr lang="en-US" sz="1250" dirty="0"/>
          </a:p>
        </p:txBody>
      </p:sp>
      <p:sp>
        <p:nvSpPr>
          <p:cNvPr id="12" name="Shape 10"/>
          <p:cNvSpPr/>
          <p:nvPr/>
        </p:nvSpPr>
        <p:spPr>
          <a:xfrm>
            <a:off x="8101584" y="1737360"/>
            <a:ext cx="3520440" cy="4023360"/>
          </a:xfrm>
          <a:prstGeom prst="roundRect">
            <a:avLst>
              <a:gd name="adj" fmla="val 2338"/>
            </a:avLst>
          </a:prstGeom>
          <a:solidFill>
            <a:srgbClr val="FFFFFF"/>
          </a:solidFill>
          <a:ln w="12700">
            <a:solidFill>
              <a:srgbClr val="D8E7C4"/>
            </a:solidFill>
            <a:prstDash val="solid"/>
          </a:ln>
        </p:spPr>
        <p:txBody>
          <a:bodyPr/>
          <a:lstStyle/>
          <a:p>
            <a:endParaRPr lang="en-US"/>
          </a:p>
        </p:txBody>
      </p:sp>
      <p:sp>
        <p:nvSpPr>
          <p:cNvPr id="13" name="Shape 11"/>
          <p:cNvSpPr/>
          <p:nvPr/>
        </p:nvSpPr>
        <p:spPr>
          <a:xfrm>
            <a:off x="8375904" y="1993392"/>
            <a:ext cx="201168" cy="201168"/>
          </a:xfrm>
          <a:prstGeom prst="ellipse">
            <a:avLst/>
          </a:prstGeom>
          <a:solidFill>
            <a:srgbClr val="5B6B57"/>
          </a:solidFill>
          <a:ln/>
        </p:spPr>
        <p:txBody>
          <a:bodyPr/>
          <a:lstStyle/>
          <a:p>
            <a:endParaRPr lang="en-US"/>
          </a:p>
        </p:txBody>
      </p:sp>
      <p:sp>
        <p:nvSpPr>
          <p:cNvPr id="14" name="Text 12"/>
          <p:cNvSpPr txBox="1"/>
          <p:nvPr/>
        </p:nvSpPr>
        <p:spPr>
          <a:xfrm>
            <a:off x="8668512" y="1901952"/>
            <a:ext cx="2834640" cy="384048"/>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What is missing</a:t>
            </a:r>
            <a:endParaRPr lang="en-US" sz="1700" dirty="0"/>
          </a:p>
        </p:txBody>
      </p:sp>
      <p:sp>
        <p:nvSpPr>
          <p:cNvPr id="15" name="Text 13"/>
          <p:cNvSpPr txBox="1"/>
          <p:nvPr/>
        </p:nvSpPr>
        <p:spPr>
          <a:xfrm>
            <a:off x="8375904" y="2395728"/>
            <a:ext cx="3017520" cy="3200400"/>
          </a:xfrm>
          <a:prstGeom prst="rect">
            <a:avLst/>
          </a:prstGeom>
          <a:noFill/>
          <a:ln/>
        </p:spPr>
        <p:txBody>
          <a:bodyPr wrap="square" lIns="0" tIns="0" rIns="0" bIns="0" rtlCol="0" anchor="ctr"/>
          <a:lstStyle/>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No defined type system. Headings and body drift between weights and sizes.</a:t>
            </a:r>
            <a:endParaRPr lang="en-US" sz="1250" dirty="0"/>
          </a:p>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No secondary palette, so every accent falls back to the same green.</a:t>
            </a:r>
            <a:endParaRPr lang="en-US" sz="1250" dirty="0"/>
          </a:p>
          <a:p>
            <a:pPr marL="177800" indent="-177800">
              <a:lnSpc>
                <a:spcPct val="120000"/>
              </a:lnSpc>
              <a:spcAft>
                <a:spcPts val="800"/>
              </a:spcAft>
              <a:buSzPct val="100000"/>
              <a:buChar char="•"/>
            </a:pPr>
            <a:r>
              <a:rPr lang="en-US" sz="1250" dirty="0">
                <a:solidFill>
                  <a:srgbClr val="5B6B57"/>
                </a:solidFill>
                <a:latin typeface="Calibri" pitchFamily="34" charset="0"/>
                <a:ea typeface="Calibri" pitchFamily="34" charset="-122"/>
                <a:cs typeface="Calibri" pitchFamily="34" charset="-120"/>
              </a:rPr>
              <a:t>No application to interface, which is now needed for WorkDesk.</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10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Five principles</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C7E89A"/>
                </a:solidFill>
                <a:latin typeface="Calibri" pitchFamily="34" charset="0"/>
                <a:ea typeface="Calibri" pitchFamily="34" charset="-122"/>
                <a:cs typeface="Calibri" pitchFamily="34" charset="-120"/>
              </a:rPr>
              <a:t>Applied to every option that follows.</a:t>
            </a:r>
            <a:endParaRPr lang="en-US" sz="1500" dirty="0"/>
          </a:p>
        </p:txBody>
      </p:sp>
      <p:sp>
        <p:nvSpPr>
          <p:cNvPr id="4" name="Shape 2"/>
          <p:cNvSpPr/>
          <p:nvPr/>
        </p:nvSpPr>
        <p:spPr>
          <a:xfrm>
            <a:off x="566928" y="1746504"/>
            <a:ext cx="402336" cy="402336"/>
          </a:xfrm>
          <a:prstGeom prst="ellipse">
            <a:avLst/>
          </a:prstGeom>
          <a:solidFill>
            <a:srgbClr val="8CC63E"/>
          </a:solidFill>
          <a:ln/>
        </p:spPr>
        <p:txBody>
          <a:bodyPr/>
          <a:lstStyle/>
          <a:p>
            <a:endParaRPr lang="en-US"/>
          </a:p>
        </p:txBody>
      </p:sp>
      <p:sp>
        <p:nvSpPr>
          <p:cNvPr id="5" name="Text 3"/>
          <p:cNvSpPr txBox="1"/>
          <p:nvPr/>
        </p:nvSpPr>
        <p:spPr>
          <a:xfrm>
            <a:off x="566928" y="1746504"/>
            <a:ext cx="402336" cy="402336"/>
          </a:xfrm>
          <a:prstGeom prst="rect">
            <a:avLst/>
          </a:prstGeom>
          <a:noFill/>
          <a:ln/>
        </p:spPr>
        <p:txBody>
          <a:bodyPr wrap="square" lIns="0" tIns="0" rIns="0" bIns="0" rtlCol="0" anchor="ctr"/>
          <a:lstStyle/>
          <a:p>
            <a:pPr marL="0" indent="0" algn="ctr">
              <a:buNone/>
            </a:pPr>
            <a:r>
              <a:rPr lang="en-US" sz="1300" b="1" dirty="0">
                <a:solidFill>
                  <a:srgbClr val="13210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88136" y="1746504"/>
            <a:ext cx="3108960" cy="365760"/>
          </a:xfrm>
          <a:prstGeom prst="rect">
            <a:avLst/>
          </a:prstGeom>
          <a:noFill/>
          <a:ln/>
        </p:spPr>
        <p:txBody>
          <a:bodyPr wrap="square" lIns="0" tIns="0" rIns="0" bIns="0" rtlCol="0" anchor="ctr"/>
          <a:lstStyle/>
          <a:p>
            <a:pPr marL="0" indent="0">
              <a:buNone/>
            </a:pPr>
            <a:r>
              <a:rPr lang="en-US" sz="1700" b="1" dirty="0">
                <a:solidFill>
                  <a:srgbClr val="8CC63E"/>
                </a:solidFill>
                <a:latin typeface="Calibri" pitchFamily="34" charset="0"/>
                <a:ea typeface="Calibri" pitchFamily="34" charset="-122"/>
                <a:cs typeface="Calibri" pitchFamily="34" charset="-120"/>
              </a:rPr>
              <a:t>Green stays</a:t>
            </a:r>
            <a:endParaRPr lang="en-US" sz="1700" dirty="0"/>
          </a:p>
        </p:txBody>
      </p:sp>
      <p:sp>
        <p:nvSpPr>
          <p:cNvPr id="7" name="Text 5"/>
          <p:cNvSpPr txBox="1"/>
          <p:nvPr/>
        </p:nvSpPr>
        <p:spPr>
          <a:xfrm>
            <a:off x="4454705" y="1569930"/>
            <a:ext cx="7315200" cy="685800"/>
          </a:xfrm>
          <a:prstGeom prst="rect">
            <a:avLst/>
          </a:prstGeom>
          <a:noFill/>
          <a:ln/>
        </p:spPr>
        <p:txBody>
          <a:bodyPr wrap="square" lIns="0" tIns="0" rIns="0" bIns="0" rtlCol="0" anchor="ctr"/>
          <a:lstStyle/>
          <a:p>
            <a:pPr marL="0" indent="0">
              <a:lnSpc>
                <a:spcPct val="120000"/>
              </a:lnSpc>
              <a:buNone/>
            </a:pPr>
            <a:r>
              <a:rPr lang="en-US" sz="1350" dirty="0">
                <a:solidFill>
                  <a:srgbClr val="C3D2B8"/>
                </a:solidFill>
                <a:latin typeface="Calibri" pitchFamily="34" charset="0"/>
                <a:ea typeface="Calibri" pitchFamily="34" charset="-122"/>
                <a:cs typeface="Calibri" pitchFamily="34" charset="-120"/>
              </a:rPr>
              <a:t>The company green leads. Every option below is built on #8CC63E or a controlled variant of it.</a:t>
            </a:r>
            <a:endParaRPr lang="en-US" sz="1350" dirty="0"/>
          </a:p>
        </p:txBody>
      </p:sp>
      <p:sp>
        <p:nvSpPr>
          <p:cNvPr id="8" name="Shape 6"/>
          <p:cNvSpPr/>
          <p:nvPr/>
        </p:nvSpPr>
        <p:spPr>
          <a:xfrm>
            <a:off x="566928" y="2642616"/>
            <a:ext cx="402336" cy="402336"/>
          </a:xfrm>
          <a:prstGeom prst="ellipse">
            <a:avLst/>
          </a:prstGeom>
          <a:solidFill>
            <a:srgbClr val="8CC63E"/>
          </a:solidFill>
          <a:ln/>
        </p:spPr>
        <p:txBody>
          <a:bodyPr/>
          <a:lstStyle/>
          <a:p>
            <a:endParaRPr lang="en-US"/>
          </a:p>
        </p:txBody>
      </p:sp>
      <p:sp>
        <p:nvSpPr>
          <p:cNvPr id="9" name="Text 7"/>
          <p:cNvSpPr txBox="1"/>
          <p:nvPr/>
        </p:nvSpPr>
        <p:spPr>
          <a:xfrm>
            <a:off x="566928" y="2642616"/>
            <a:ext cx="402336" cy="402336"/>
          </a:xfrm>
          <a:prstGeom prst="rect">
            <a:avLst/>
          </a:prstGeom>
          <a:noFill/>
          <a:ln/>
        </p:spPr>
        <p:txBody>
          <a:bodyPr wrap="square" lIns="0" tIns="0" rIns="0" bIns="0" rtlCol="0" anchor="ctr"/>
          <a:lstStyle/>
          <a:p>
            <a:pPr marL="0" indent="0" algn="ctr">
              <a:buNone/>
            </a:pPr>
            <a:r>
              <a:rPr lang="en-US" sz="1300" b="1" dirty="0">
                <a:solidFill>
                  <a:srgbClr val="13210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88136" y="2642616"/>
            <a:ext cx="3108960" cy="365760"/>
          </a:xfrm>
          <a:prstGeom prst="rect">
            <a:avLst/>
          </a:prstGeom>
          <a:noFill/>
          <a:ln/>
        </p:spPr>
        <p:txBody>
          <a:bodyPr wrap="square" lIns="0" tIns="0" rIns="0" bIns="0" rtlCol="0" anchor="ctr"/>
          <a:lstStyle/>
          <a:p>
            <a:pPr marL="0" indent="0">
              <a:buNone/>
            </a:pPr>
            <a:r>
              <a:rPr lang="en-US" sz="1700" b="1" dirty="0">
                <a:solidFill>
                  <a:srgbClr val="8CC63E"/>
                </a:solidFill>
                <a:latin typeface="Calibri" pitchFamily="34" charset="0"/>
                <a:ea typeface="Calibri" pitchFamily="34" charset="-122"/>
                <a:cs typeface="Calibri" pitchFamily="34" charset="-120"/>
              </a:rPr>
              <a:t>Works at 16 pixels</a:t>
            </a:r>
            <a:endParaRPr lang="en-US" sz="1700" dirty="0"/>
          </a:p>
        </p:txBody>
      </p:sp>
      <p:sp>
        <p:nvSpPr>
          <p:cNvPr id="11" name="Text 9"/>
          <p:cNvSpPr txBox="1"/>
          <p:nvPr/>
        </p:nvSpPr>
        <p:spPr>
          <a:xfrm>
            <a:off x="4454705" y="2466042"/>
            <a:ext cx="7315200" cy="685800"/>
          </a:xfrm>
          <a:prstGeom prst="rect">
            <a:avLst/>
          </a:prstGeom>
          <a:noFill/>
          <a:ln/>
        </p:spPr>
        <p:txBody>
          <a:bodyPr wrap="square" lIns="0" tIns="0" rIns="0" bIns="0" rtlCol="0" anchor="ctr"/>
          <a:lstStyle/>
          <a:p>
            <a:pPr marL="0" indent="0">
              <a:lnSpc>
                <a:spcPct val="120000"/>
              </a:lnSpc>
              <a:buNone/>
            </a:pPr>
            <a:r>
              <a:rPr lang="en-US" sz="1350" dirty="0">
                <a:solidFill>
                  <a:srgbClr val="C3D2B8"/>
                </a:solidFill>
                <a:latin typeface="Calibri" pitchFamily="34" charset="0"/>
                <a:ea typeface="Calibri" pitchFamily="34" charset="-122"/>
                <a:cs typeface="Calibri" pitchFamily="34" charset="-120"/>
              </a:rPr>
              <a:t>The mark must be legible as a favicon and as an app icon. This is the test the current mark fails.</a:t>
            </a:r>
            <a:endParaRPr lang="en-US" sz="1350" dirty="0"/>
          </a:p>
        </p:txBody>
      </p:sp>
      <p:sp>
        <p:nvSpPr>
          <p:cNvPr id="12" name="Shape 10"/>
          <p:cNvSpPr/>
          <p:nvPr/>
        </p:nvSpPr>
        <p:spPr>
          <a:xfrm>
            <a:off x="566928" y="3538728"/>
            <a:ext cx="402336" cy="402336"/>
          </a:xfrm>
          <a:prstGeom prst="ellipse">
            <a:avLst/>
          </a:prstGeom>
          <a:solidFill>
            <a:srgbClr val="8CC63E"/>
          </a:solidFill>
          <a:ln/>
        </p:spPr>
        <p:txBody>
          <a:bodyPr/>
          <a:lstStyle/>
          <a:p>
            <a:endParaRPr lang="en-US"/>
          </a:p>
        </p:txBody>
      </p:sp>
      <p:sp>
        <p:nvSpPr>
          <p:cNvPr id="13" name="Text 11"/>
          <p:cNvSpPr txBox="1"/>
          <p:nvPr/>
        </p:nvSpPr>
        <p:spPr>
          <a:xfrm>
            <a:off x="566928" y="3538728"/>
            <a:ext cx="402336" cy="402336"/>
          </a:xfrm>
          <a:prstGeom prst="rect">
            <a:avLst/>
          </a:prstGeom>
          <a:noFill/>
          <a:ln/>
        </p:spPr>
        <p:txBody>
          <a:bodyPr wrap="square" lIns="0" tIns="0" rIns="0" bIns="0" rtlCol="0" anchor="ctr"/>
          <a:lstStyle/>
          <a:p>
            <a:pPr marL="0" indent="0" algn="ctr">
              <a:buNone/>
            </a:pPr>
            <a:r>
              <a:rPr lang="en-US" sz="1300" b="1" dirty="0">
                <a:solidFill>
                  <a:srgbClr val="13210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88136" y="3538728"/>
            <a:ext cx="3108960" cy="365760"/>
          </a:xfrm>
          <a:prstGeom prst="rect">
            <a:avLst/>
          </a:prstGeom>
          <a:noFill/>
          <a:ln/>
        </p:spPr>
        <p:txBody>
          <a:bodyPr wrap="square" lIns="0" tIns="0" rIns="0" bIns="0" rtlCol="0" anchor="ctr"/>
          <a:lstStyle/>
          <a:p>
            <a:pPr marL="0" indent="0">
              <a:buNone/>
            </a:pPr>
            <a:r>
              <a:rPr lang="en-US" sz="1700" b="1" dirty="0">
                <a:solidFill>
                  <a:srgbClr val="8CC63E"/>
                </a:solidFill>
                <a:latin typeface="Calibri" pitchFamily="34" charset="0"/>
                <a:ea typeface="Calibri" pitchFamily="34" charset="-122"/>
                <a:cs typeface="Calibri" pitchFamily="34" charset="-120"/>
              </a:rPr>
              <a:t>Bilingual by construction</a:t>
            </a:r>
            <a:endParaRPr lang="en-US" sz="1700" dirty="0"/>
          </a:p>
        </p:txBody>
      </p:sp>
      <p:sp>
        <p:nvSpPr>
          <p:cNvPr id="15" name="Text 13"/>
          <p:cNvSpPr txBox="1"/>
          <p:nvPr/>
        </p:nvSpPr>
        <p:spPr>
          <a:xfrm>
            <a:off x="4454705" y="3362154"/>
            <a:ext cx="7315200" cy="685800"/>
          </a:xfrm>
          <a:prstGeom prst="rect">
            <a:avLst/>
          </a:prstGeom>
          <a:noFill/>
          <a:ln/>
        </p:spPr>
        <p:txBody>
          <a:bodyPr wrap="square" lIns="0" tIns="0" rIns="0" bIns="0" rtlCol="0" anchor="ctr"/>
          <a:lstStyle/>
          <a:p>
            <a:pPr marL="0" indent="0">
              <a:lnSpc>
                <a:spcPct val="120000"/>
              </a:lnSpc>
              <a:buNone/>
            </a:pPr>
            <a:r>
              <a:rPr lang="en-US" sz="1350" dirty="0">
                <a:solidFill>
                  <a:srgbClr val="C3D2B8"/>
                </a:solidFill>
                <a:latin typeface="Calibri" pitchFamily="34" charset="0"/>
                <a:ea typeface="Calibri" pitchFamily="34" charset="-122"/>
                <a:cs typeface="Calibri" pitchFamily="34" charset="-120"/>
              </a:rPr>
              <a:t>Latin and Hebrew lockups designed together, not one retrofitted to the other.</a:t>
            </a:r>
            <a:endParaRPr lang="en-US" sz="1350" dirty="0"/>
          </a:p>
        </p:txBody>
      </p:sp>
      <p:sp>
        <p:nvSpPr>
          <p:cNvPr id="16" name="Shape 14"/>
          <p:cNvSpPr/>
          <p:nvPr/>
        </p:nvSpPr>
        <p:spPr>
          <a:xfrm>
            <a:off x="566928" y="4434840"/>
            <a:ext cx="402336" cy="402336"/>
          </a:xfrm>
          <a:prstGeom prst="ellipse">
            <a:avLst/>
          </a:prstGeom>
          <a:solidFill>
            <a:srgbClr val="8CC63E"/>
          </a:solidFill>
          <a:ln/>
        </p:spPr>
        <p:txBody>
          <a:bodyPr/>
          <a:lstStyle/>
          <a:p>
            <a:endParaRPr lang="en-US"/>
          </a:p>
        </p:txBody>
      </p:sp>
      <p:sp>
        <p:nvSpPr>
          <p:cNvPr id="17" name="Text 15"/>
          <p:cNvSpPr txBox="1"/>
          <p:nvPr/>
        </p:nvSpPr>
        <p:spPr>
          <a:xfrm>
            <a:off x="566928" y="4434840"/>
            <a:ext cx="402336" cy="402336"/>
          </a:xfrm>
          <a:prstGeom prst="rect">
            <a:avLst/>
          </a:prstGeom>
          <a:noFill/>
          <a:ln/>
        </p:spPr>
        <p:txBody>
          <a:bodyPr wrap="square" lIns="0" tIns="0" rIns="0" bIns="0" rtlCol="0" anchor="ctr"/>
          <a:lstStyle/>
          <a:p>
            <a:pPr marL="0" indent="0" algn="ctr">
              <a:buNone/>
            </a:pPr>
            <a:r>
              <a:rPr lang="en-US" sz="1300" b="1" dirty="0">
                <a:solidFill>
                  <a:srgbClr val="13210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88136" y="4434840"/>
            <a:ext cx="3108960" cy="365760"/>
          </a:xfrm>
          <a:prstGeom prst="rect">
            <a:avLst/>
          </a:prstGeom>
          <a:noFill/>
          <a:ln/>
        </p:spPr>
        <p:txBody>
          <a:bodyPr wrap="square" lIns="0" tIns="0" rIns="0" bIns="0" rtlCol="0" anchor="ctr"/>
          <a:lstStyle/>
          <a:p>
            <a:pPr marL="0" indent="0">
              <a:buNone/>
            </a:pPr>
            <a:r>
              <a:rPr lang="en-US" sz="1700" b="1" dirty="0">
                <a:solidFill>
                  <a:srgbClr val="8CC63E"/>
                </a:solidFill>
                <a:latin typeface="Calibri" pitchFamily="34" charset="0"/>
                <a:ea typeface="Calibri" pitchFamily="34" charset="-122"/>
                <a:cs typeface="Calibri" pitchFamily="34" charset="-120"/>
              </a:rPr>
              <a:t>Quiet enough to work behind data</a:t>
            </a:r>
            <a:endParaRPr lang="en-US" sz="1700" dirty="0"/>
          </a:p>
        </p:txBody>
      </p:sp>
      <p:sp>
        <p:nvSpPr>
          <p:cNvPr id="19" name="Text 17"/>
          <p:cNvSpPr txBox="1"/>
          <p:nvPr/>
        </p:nvSpPr>
        <p:spPr>
          <a:xfrm>
            <a:off x="4454705" y="4258266"/>
            <a:ext cx="7315200" cy="685800"/>
          </a:xfrm>
          <a:prstGeom prst="rect">
            <a:avLst/>
          </a:prstGeom>
          <a:noFill/>
          <a:ln/>
        </p:spPr>
        <p:txBody>
          <a:bodyPr wrap="square" lIns="0" tIns="0" rIns="0" bIns="0" rtlCol="0" anchor="ctr"/>
          <a:lstStyle/>
          <a:p>
            <a:pPr marL="0" indent="0">
              <a:lnSpc>
                <a:spcPct val="120000"/>
              </a:lnSpc>
              <a:buNone/>
            </a:pPr>
            <a:r>
              <a:rPr lang="en-US" sz="1350" dirty="0">
                <a:solidFill>
                  <a:srgbClr val="C3D2B8"/>
                </a:solidFill>
                <a:latin typeface="Calibri" pitchFamily="34" charset="0"/>
                <a:ea typeface="Calibri" pitchFamily="34" charset="-122"/>
                <a:cs typeface="Calibri" pitchFamily="34" charset="-120"/>
              </a:rPr>
              <a:t>GALIL's own product is a dense interface. The identity must not fight tables, charts and status colours.</a:t>
            </a:r>
            <a:endParaRPr lang="en-US" sz="1350" dirty="0"/>
          </a:p>
        </p:txBody>
      </p:sp>
      <p:sp>
        <p:nvSpPr>
          <p:cNvPr id="20" name="Shape 18"/>
          <p:cNvSpPr/>
          <p:nvPr/>
        </p:nvSpPr>
        <p:spPr>
          <a:xfrm>
            <a:off x="566928" y="5330952"/>
            <a:ext cx="402336" cy="402336"/>
          </a:xfrm>
          <a:prstGeom prst="ellipse">
            <a:avLst/>
          </a:prstGeom>
          <a:solidFill>
            <a:srgbClr val="8CC63E"/>
          </a:solidFill>
          <a:ln/>
        </p:spPr>
        <p:txBody>
          <a:bodyPr/>
          <a:lstStyle/>
          <a:p>
            <a:endParaRPr lang="en-US"/>
          </a:p>
        </p:txBody>
      </p:sp>
      <p:sp>
        <p:nvSpPr>
          <p:cNvPr id="21" name="Text 19"/>
          <p:cNvSpPr txBox="1"/>
          <p:nvPr/>
        </p:nvSpPr>
        <p:spPr>
          <a:xfrm>
            <a:off x="566928" y="5330952"/>
            <a:ext cx="402336" cy="402336"/>
          </a:xfrm>
          <a:prstGeom prst="rect">
            <a:avLst/>
          </a:prstGeom>
          <a:noFill/>
          <a:ln/>
        </p:spPr>
        <p:txBody>
          <a:bodyPr wrap="square" lIns="0" tIns="0" rIns="0" bIns="0" rtlCol="0" anchor="ctr"/>
          <a:lstStyle/>
          <a:p>
            <a:pPr marL="0" indent="0" algn="ctr">
              <a:buNone/>
            </a:pPr>
            <a:r>
              <a:rPr lang="en-US" sz="1300" b="1" dirty="0">
                <a:solidFill>
                  <a:srgbClr val="13210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088136" y="5330952"/>
            <a:ext cx="3108960" cy="365760"/>
          </a:xfrm>
          <a:prstGeom prst="rect">
            <a:avLst/>
          </a:prstGeom>
          <a:noFill/>
          <a:ln/>
        </p:spPr>
        <p:txBody>
          <a:bodyPr wrap="square" lIns="0" tIns="0" rIns="0" bIns="0" rtlCol="0" anchor="ctr"/>
          <a:lstStyle/>
          <a:p>
            <a:pPr marL="0" indent="0">
              <a:buNone/>
            </a:pPr>
            <a:r>
              <a:rPr lang="en-US" sz="1700" b="1" dirty="0">
                <a:solidFill>
                  <a:srgbClr val="8CC63E"/>
                </a:solidFill>
                <a:latin typeface="Calibri" pitchFamily="34" charset="0"/>
                <a:ea typeface="Calibri" pitchFamily="34" charset="-122"/>
                <a:cs typeface="Calibri" pitchFamily="34" charset="-120"/>
              </a:rPr>
              <a:t>One system, three surfaces</a:t>
            </a:r>
            <a:endParaRPr lang="en-US" sz="1700" dirty="0"/>
          </a:p>
        </p:txBody>
      </p:sp>
      <p:sp>
        <p:nvSpPr>
          <p:cNvPr id="23" name="Text 21"/>
          <p:cNvSpPr txBox="1"/>
          <p:nvPr/>
        </p:nvSpPr>
        <p:spPr>
          <a:xfrm>
            <a:off x="4454705" y="5154378"/>
            <a:ext cx="7315200" cy="685800"/>
          </a:xfrm>
          <a:prstGeom prst="rect">
            <a:avLst/>
          </a:prstGeom>
          <a:noFill/>
          <a:ln/>
        </p:spPr>
        <p:txBody>
          <a:bodyPr wrap="square" lIns="0" tIns="0" rIns="0" bIns="0" rtlCol="0" anchor="ctr"/>
          <a:lstStyle/>
          <a:p>
            <a:pPr marL="0" indent="0">
              <a:lnSpc>
                <a:spcPct val="120000"/>
              </a:lnSpc>
              <a:buNone/>
            </a:pPr>
            <a:r>
              <a:rPr lang="en-US" sz="1350" dirty="0">
                <a:solidFill>
                  <a:srgbClr val="C3D2B8"/>
                </a:solidFill>
                <a:latin typeface="Calibri" pitchFamily="34" charset="0"/>
                <a:ea typeface="Calibri" pitchFamily="34" charset="-122"/>
                <a:cs typeface="Calibri" pitchFamily="34" charset="-120"/>
              </a:rPr>
              <a:t>Website, WorkDesk and documents share one palette and one type scale. No separate 'app brand'.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Colour — three systems</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All three keep #8CC63E as the primary. They differ in what sits beside it.</a:t>
            </a:r>
            <a:endParaRPr lang="en-US" sz="1500" dirty="0"/>
          </a:p>
        </p:txBody>
      </p:sp>
      <p:sp>
        <p:nvSpPr>
          <p:cNvPr id="4" name="Shape 2"/>
          <p:cNvSpPr/>
          <p:nvPr/>
        </p:nvSpPr>
        <p:spPr>
          <a:xfrm>
            <a:off x="566928" y="1664208"/>
            <a:ext cx="11027664" cy="1325880"/>
          </a:xfrm>
          <a:prstGeom prst="roundRect">
            <a:avLst>
              <a:gd name="adj" fmla="val 6207"/>
            </a:avLst>
          </a:prstGeom>
          <a:solidFill>
            <a:srgbClr val="F2F8E9"/>
          </a:solidFill>
          <a:ln w="12700">
            <a:solidFill>
              <a:srgbClr val="D8E7C4"/>
            </a:solidFill>
            <a:prstDash val="solid"/>
          </a:ln>
        </p:spPr>
        <p:txBody>
          <a:bodyPr/>
          <a:lstStyle/>
          <a:p>
            <a:endParaRPr lang="en-US"/>
          </a:p>
        </p:txBody>
      </p:sp>
      <p:sp>
        <p:nvSpPr>
          <p:cNvPr id="5" name="Text 3"/>
          <p:cNvSpPr txBox="1"/>
          <p:nvPr/>
        </p:nvSpPr>
        <p:spPr>
          <a:xfrm>
            <a:off x="822960" y="1828800"/>
            <a:ext cx="2103120" cy="320040"/>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A · Continuity</a:t>
            </a:r>
            <a:endParaRPr lang="en-US" sz="1700" dirty="0"/>
          </a:p>
        </p:txBody>
      </p:sp>
      <p:sp>
        <p:nvSpPr>
          <p:cNvPr id="6" name="Text 4"/>
          <p:cNvSpPr txBox="1"/>
          <p:nvPr/>
        </p:nvSpPr>
        <p:spPr>
          <a:xfrm>
            <a:off x="822960" y="2194560"/>
            <a:ext cx="4480560" cy="731520"/>
          </a:xfrm>
          <a:prstGeom prst="rect">
            <a:avLst/>
          </a:prstGeom>
          <a:noFill/>
          <a:ln/>
        </p:spPr>
        <p:txBody>
          <a:bodyPr wrap="square" lIns="0" tIns="0" rIns="0" bIns="0" rtlCol="0" anchor="ctr"/>
          <a:lstStyle/>
          <a:p>
            <a:pPr marL="0" indent="0">
              <a:lnSpc>
                <a:spcPct val="118000"/>
              </a:lnSpc>
              <a:buNone/>
            </a:pPr>
            <a:r>
              <a:rPr lang="en-US" sz="1200" dirty="0">
                <a:solidFill>
                  <a:srgbClr val="5B6B57"/>
                </a:solidFill>
                <a:latin typeface="Calibri" pitchFamily="34" charset="0"/>
                <a:ea typeface="Calibri" pitchFamily="34" charset="-122"/>
                <a:cs typeface="Calibri" pitchFamily="34" charset="-120"/>
              </a:rPr>
              <a:t>Closest to today. Green plus a deep green and the existing WorkDesk teal as a data accent. Lowest risk, least change to existing material.</a:t>
            </a:r>
            <a:endParaRPr lang="en-US" sz="1200" dirty="0"/>
          </a:p>
        </p:txBody>
      </p:sp>
      <p:pic>
        <p:nvPicPr>
          <p:cNvPr id="7" name="Image 0" descr="/home/claude/build/img/pal-a.png"/>
          <p:cNvPicPr>
            <a:picLocks noChangeAspect="1"/>
          </p:cNvPicPr>
          <p:nvPr/>
        </p:nvPicPr>
        <p:blipFill>
          <a:blip r:embed="rId3"/>
          <a:stretch>
            <a:fillRect/>
          </a:stretch>
        </p:blipFill>
        <p:spPr>
          <a:xfrm>
            <a:off x="5596128" y="1828800"/>
            <a:ext cx="4937760" cy="1042416"/>
          </a:xfrm>
          <a:prstGeom prst="rect">
            <a:avLst/>
          </a:prstGeom>
        </p:spPr>
      </p:pic>
      <p:sp>
        <p:nvSpPr>
          <p:cNvPr id="8" name="Shape 5"/>
          <p:cNvSpPr/>
          <p:nvPr/>
        </p:nvSpPr>
        <p:spPr>
          <a:xfrm>
            <a:off x="566928" y="3145536"/>
            <a:ext cx="11027664" cy="1325880"/>
          </a:xfrm>
          <a:prstGeom prst="roundRect">
            <a:avLst>
              <a:gd name="adj" fmla="val 6207"/>
            </a:avLst>
          </a:prstGeom>
          <a:solidFill>
            <a:srgbClr val="FFFFFF"/>
          </a:solidFill>
          <a:ln w="12700">
            <a:solidFill>
              <a:srgbClr val="D8E7C4"/>
            </a:solidFill>
            <a:prstDash val="solid"/>
          </a:ln>
        </p:spPr>
        <p:txBody>
          <a:bodyPr/>
          <a:lstStyle/>
          <a:p>
            <a:endParaRPr lang="en-US"/>
          </a:p>
        </p:txBody>
      </p:sp>
      <p:sp>
        <p:nvSpPr>
          <p:cNvPr id="9" name="Text 6"/>
          <p:cNvSpPr txBox="1"/>
          <p:nvPr/>
        </p:nvSpPr>
        <p:spPr>
          <a:xfrm>
            <a:off x="822960" y="3310128"/>
            <a:ext cx="2103120" cy="320040"/>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B · Warm contrast</a:t>
            </a:r>
            <a:endParaRPr lang="en-US" sz="1700" dirty="0"/>
          </a:p>
        </p:txBody>
      </p:sp>
      <p:sp>
        <p:nvSpPr>
          <p:cNvPr id="10" name="Text 7"/>
          <p:cNvSpPr txBox="1"/>
          <p:nvPr/>
        </p:nvSpPr>
        <p:spPr>
          <a:xfrm>
            <a:off x="822960" y="3675888"/>
            <a:ext cx="4480560" cy="731520"/>
          </a:xfrm>
          <a:prstGeom prst="rect">
            <a:avLst/>
          </a:prstGeom>
          <a:noFill/>
          <a:ln/>
        </p:spPr>
        <p:txBody>
          <a:bodyPr wrap="square" lIns="0" tIns="0" rIns="0" bIns="0" rtlCol="0" anchor="ctr"/>
          <a:lstStyle/>
          <a:p>
            <a:pPr marL="0" indent="0">
              <a:lnSpc>
                <a:spcPct val="118000"/>
              </a:lnSpc>
              <a:buNone/>
            </a:pPr>
            <a:r>
              <a:rPr lang="en-US" sz="1200" dirty="0">
                <a:solidFill>
                  <a:srgbClr val="5B6B57"/>
                </a:solidFill>
                <a:latin typeface="Calibri" pitchFamily="34" charset="0"/>
                <a:ea typeface="Calibri" pitchFamily="34" charset="-122"/>
                <a:cs typeface="Calibri" pitchFamily="34" charset="-120"/>
              </a:rPr>
              <a:t>Green against a forest base with a clay accent. Warmer and more human; the clay gives a genuinely distinct highlight colour that green cannot supply on its own.</a:t>
            </a:r>
            <a:endParaRPr lang="en-US" sz="1200" dirty="0"/>
          </a:p>
        </p:txBody>
      </p:sp>
      <p:pic>
        <p:nvPicPr>
          <p:cNvPr id="11" name="Image 1" descr="/home/claude/build/img/pal-b.png"/>
          <p:cNvPicPr>
            <a:picLocks noChangeAspect="1"/>
          </p:cNvPicPr>
          <p:nvPr/>
        </p:nvPicPr>
        <p:blipFill>
          <a:blip r:embed="rId4"/>
          <a:stretch>
            <a:fillRect/>
          </a:stretch>
        </p:blipFill>
        <p:spPr>
          <a:xfrm>
            <a:off x="5596128" y="3310128"/>
            <a:ext cx="4937760" cy="1042416"/>
          </a:xfrm>
          <a:prstGeom prst="rect">
            <a:avLst/>
          </a:prstGeom>
        </p:spPr>
      </p:pic>
      <p:sp>
        <p:nvSpPr>
          <p:cNvPr id="12" name="Shape 8"/>
          <p:cNvSpPr/>
          <p:nvPr/>
        </p:nvSpPr>
        <p:spPr>
          <a:xfrm>
            <a:off x="566928" y="4626864"/>
            <a:ext cx="11027664" cy="1325880"/>
          </a:xfrm>
          <a:prstGeom prst="roundRect">
            <a:avLst>
              <a:gd name="adj" fmla="val 6207"/>
            </a:avLst>
          </a:prstGeom>
          <a:solidFill>
            <a:srgbClr val="FFFFFF"/>
          </a:solidFill>
          <a:ln w="12700">
            <a:solidFill>
              <a:srgbClr val="D8E7C4"/>
            </a:solidFill>
            <a:prstDash val="solid"/>
          </a:ln>
        </p:spPr>
        <p:txBody>
          <a:bodyPr/>
          <a:lstStyle/>
          <a:p>
            <a:endParaRPr lang="en-US"/>
          </a:p>
        </p:txBody>
      </p:sp>
      <p:sp>
        <p:nvSpPr>
          <p:cNvPr id="13" name="Text 9"/>
          <p:cNvSpPr txBox="1"/>
          <p:nvPr/>
        </p:nvSpPr>
        <p:spPr>
          <a:xfrm>
            <a:off x="822960" y="4791456"/>
            <a:ext cx="2103120" cy="320040"/>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C · Technical</a:t>
            </a:r>
            <a:endParaRPr lang="en-US" sz="1700" dirty="0"/>
          </a:p>
        </p:txBody>
      </p:sp>
      <p:sp>
        <p:nvSpPr>
          <p:cNvPr id="14" name="Text 10"/>
          <p:cNvSpPr txBox="1"/>
          <p:nvPr/>
        </p:nvSpPr>
        <p:spPr>
          <a:xfrm>
            <a:off x="822960" y="5157216"/>
            <a:ext cx="4480560" cy="731520"/>
          </a:xfrm>
          <a:prstGeom prst="rect">
            <a:avLst/>
          </a:prstGeom>
          <a:noFill/>
          <a:ln/>
        </p:spPr>
        <p:txBody>
          <a:bodyPr wrap="square" lIns="0" tIns="0" rIns="0" bIns="0" rtlCol="0" anchor="ctr"/>
          <a:lstStyle/>
          <a:p>
            <a:pPr marL="0" indent="0">
              <a:lnSpc>
                <a:spcPct val="118000"/>
              </a:lnSpc>
              <a:buNone/>
            </a:pPr>
            <a:r>
              <a:rPr lang="en-US" sz="1200" dirty="0">
                <a:solidFill>
                  <a:srgbClr val="5B6B57"/>
                </a:solidFill>
                <a:latin typeface="Calibri" pitchFamily="34" charset="0"/>
                <a:ea typeface="Calibri" pitchFamily="34" charset="-122"/>
                <a:cs typeface="Calibri" pitchFamily="34" charset="-120"/>
              </a:rPr>
              <a:t>Green against near-black. High contrast, confident, and the strongest fit for a defence-sector client list. Reads as engineering rather than lifestyle.</a:t>
            </a:r>
            <a:endParaRPr lang="en-US" sz="1200" dirty="0"/>
          </a:p>
        </p:txBody>
      </p:sp>
      <p:pic>
        <p:nvPicPr>
          <p:cNvPr id="15" name="Image 2" descr="/home/claude/build/img/pal-c.png"/>
          <p:cNvPicPr>
            <a:picLocks noChangeAspect="1"/>
          </p:cNvPicPr>
          <p:nvPr/>
        </p:nvPicPr>
        <p:blipFill>
          <a:blip r:embed="rId5"/>
          <a:stretch>
            <a:fillRect/>
          </a:stretch>
        </p:blipFill>
        <p:spPr>
          <a:xfrm>
            <a:off x="5596128" y="4791456"/>
            <a:ext cx="4937760" cy="1042416"/>
          </a:xfrm>
          <a:prstGeom prst="rect">
            <a:avLst/>
          </a:prstGeom>
        </p:spPr>
      </p:pic>
      <p:sp>
        <p:nvSpPr>
          <p:cNvPr id="16" name="Text 11"/>
          <p:cNvSpPr txBox="1"/>
          <p:nvPr/>
        </p:nvSpPr>
        <p:spPr>
          <a:xfrm>
            <a:off x="566928" y="6382512"/>
            <a:ext cx="11027664" cy="274320"/>
          </a:xfrm>
          <a:prstGeom prst="rect">
            <a:avLst/>
          </a:prstGeom>
          <a:noFill/>
          <a:ln/>
        </p:spPr>
        <p:txBody>
          <a:bodyPr wrap="square" lIns="0" tIns="0" rIns="0" bIns="0" rtlCol="0" anchor="ctr"/>
          <a:lstStyle/>
          <a:p>
            <a:pPr marL="0" indent="0">
              <a:buNone/>
            </a:pPr>
            <a:r>
              <a:rPr lang="en-US" sz="1050" dirty="0">
                <a:solidFill>
                  <a:srgbClr val="5B6B57"/>
                </a:solidFill>
                <a:latin typeface="Calibri" pitchFamily="34" charset="0"/>
                <a:ea typeface="Calibri" pitchFamily="34" charset="-122"/>
                <a:cs typeface="Calibri" pitchFamily="34" charset="-120"/>
              </a:rPr>
              <a:t>Hex values are printed under each swatch. Palette A is the safe choice; C is the ambitious one.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Typography — three pairings</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Your manager suggested Noto Sans. Option 1 takes that suggestion and builds the full scale around it.</a:t>
            </a:r>
            <a:endParaRPr lang="en-US" sz="1500" dirty="0"/>
          </a:p>
        </p:txBody>
      </p:sp>
      <p:sp>
        <p:nvSpPr>
          <p:cNvPr id="4" name="Shape 2"/>
          <p:cNvSpPr/>
          <p:nvPr/>
        </p:nvSpPr>
        <p:spPr>
          <a:xfrm>
            <a:off x="566928" y="1664208"/>
            <a:ext cx="3520440" cy="4206240"/>
          </a:xfrm>
          <a:prstGeom prst="roundRect">
            <a:avLst>
              <a:gd name="adj" fmla="val 2338"/>
            </a:avLst>
          </a:prstGeom>
          <a:solidFill>
            <a:srgbClr val="F2F8E9"/>
          </a:solidFill>
          <a:ln w="12700">
            <a:solidFill>
              <a:srgbClr val="8CC63E"/>
            </a:solidFill>
            <a:prstDash val="solid"/>
          </a:ln>
        </p:spPr>
        <p:txBody>
          <a:bodyPr/>
          <a:lstStyle/>
          <a:p>
            <a:endParaRPr lang="en-US"/>
          </a:p>
        </p:txBody>
      </p:sp>
      <p:sp>
        <p:nvSpPr>
          <p:cNvPr id="5" name="Text 3"/>
          <p:cNvSpPr txBox="1"/>
          <p:nvPr/>
        </p:nvSpPr>
        <p:spPr>
          <a:xfrm>
            <a:off x="822960" y="1810512"/>
            <a:ext cx="3017520" cy="347472"/>
          </a:xfrm>
          <a:prstGeom prst="rect">
            <a:avLst/>
          </a:prstGeom>
          <a:noFill/>
          <a:ln/>
        </p:spPr>
        <p:txBody>
          <a:bodyPr wrap="square" lIns="0" tIns="0" rIns="0" bIns="0" rtlCol="0" anchor="ctr"/>
          <a:lstStyle/>
          <a:p>
            <a:pPr marL="0" indent="0">
              <a:buNone/>
            </a:pPr>
            <a:r>
              <a:rPr lang="en-US" sz="1700" b="1" dirty="0">
                <a:solidFill>
                  <a:srgbClr val="4E7A1C"/>
                </a:solidFill>
                <a:latin typeface="Calibri" pitchFamily="34" charset="0"/>
                <a:ea typeface="Calibri" pitchFamily="34" charset="-122"/>
                <a:cs typeface="Calibri" pitchFamily="34" charset="-120"/>
              </a:rPr>
              <a:t>1 · Noto Sans</a:t>
            </a:r>
            <a:endParaRPr lang="en-US" sz="1700" dirty="0"/>
          </a:p>
        </p:txBody>
      </p:sp>
      <p:sp>
        <p:nvSpPr>
          <p:cNvPr id="6" name="Text 4"/>
          <p:cNvSpPr txBox="1"/>
          <p:nvPr/>
        </p:nvSpPr>
        <p:spPr>
          <a:xfrm>
            <a:off x="822960" y="2139696"/>
            <a:ext cx="3017520" cy="219456"/>
          </a:xfrm>
          <a:prstGeom prst="rect">
            <a:avLst/>
          </a:prstGeom>
          <a:noFill/>
          <a:ln/>
        </p:spPr>
        <p:txBody>
          <a:bodyPr wrap="square" lIns="0" tIns="0" rIns="0" bIns="0" rtlCol="0" anchor="ctr"/>
          <a:lstStyle/>
          <a:p>
            <a:pPr marL="0" indent="0">
              <a:buNone/>
            </a:pPr>
            <a:r>
              <a:rPr lang="en-US" sz="950" b="1" kern="0" spc="150" dirty="0">
                <a:solidFill>
                  <a:srgbClr val="8CC63E"/>
                </a:solidFill>
                <a:latin typeface="Calibri" pitchFamily="34" charset="0"/>
                <a:ea typeface="Calibri" pitchFamily="34" charset="-122"/>
                <a:cs typeface="Calibri" pitchFamily="34" charset="-120"/>
              </a:rPr>
              <a:t>RECOMMENDED</a:t>
            </a:r>
            <a:endParaRPr lang="en-US" sz="950" dirty="0"/>
          </a:p>
        </p:txBody>
      </p:sp>
      <p:sp>
        <p:nvSpPr>
          <p:cNvPr id="7" name="Text 5"/>
          <p:cNvSpPr txBox="1"/>
          <p:nvPr/>
        </p:nvSpPr>
        <p:spPr>
          <a:xfrm>
            <a:off x="822960" y="2450592"/>
            <a:ext cx="3017520" cy="566928"/>
          </a:xfrm>
          <a:prstGeom prst="rect">
            <a:avLst/>
          </a:prstGeom>
          <a:noFill/>
          <a:ln/>
        </p:spPr>
        <p:txBody>
          <a:bodyPr wrap="square" lIns="0" tIns="0" rIns="0" bIns="0" rtlCol="0" anchor="ctr"/>
          <a:lstStyle/>
          <a:p>
            <a:pPr marL="0" indent="0">
              <a:buNone/>
            </a:pPr>
            <a:r>
              <a:rPr lang="en-US" sz="3000" b="1" dirty="0">
                <a:solidFill>
                  <a:srgbClr val="1B2A18"/>
                </a:solidFill>
                <a:latin typeface="Noto Sans" pitchFamily="34" charset="0"/>
                <a:ea typeface="Noto Sans" pitchFamily="34" charset="-122"/>
                <a:cs typeface="Noto Sans" pitchFamily="34" charset="-120"/>
              </a:rPr>
              <a:t>Aa Bb Cc  אבג</a:t>
            </a:r>
            <a:endParaRPr lang="en-US" sz="3000" dirty="0"/>
          </a:p>
        </p:txBody>
      </p:sp>
      <p:sp>
        <p:nvSpPr>
          <p:cNvPr id="8" name="Text 6"/>
          <p:cNvSpPr txBox="1"/>
          <p:nvPr/>
        </p:nvSpPr>
        <p:spPr>
          <a:xfrm>
            <a:off x="822960" y="3072384"/>
            <a:ext cx="3017520" cy="274320"/>
          </a:xfrm>
          <a:prstGeom prst="rect">
            <a:avLst/>
          </a:prstGeom>
          <a:noFill/>
          <a:ln/>
        </p:spPr>
        <p:txBody>
          <a:bodyPr wrap="square" lIns="0" tIns="0" rIns="0" bIns="0" rtlCol="0" anchor="ctr"/>
          <a:lstStyle/>
          <a:p>
            <a:pPr marL="0" indent="0">
              <a:buNone/>
            </a:pPr>
            <a:r>
              <a:rPr lang="en-US" sz="1200" dirty="0">
                <a:solidFill>
                  <a:srgbClr val="5B6B57"/>
                </a:solidFill>
                <a:latin typeface="Noto Sans" pitchFamily="34" charset="0"/>
                <a:ea typeface="Noto Sans" pitchFamily="34" charset="-122"/>
                <a:cs typeface="Noto Sans" pitchFamily="34" charset="-120"/>
              </a:rPr>
              <a:t>Heading 24 / Body 14 / Caption 12</a:t>
            </a:r>
            <a:endParaRPr lang="en-US" sz="1200" dirty="0"/>
          </a:p>
        </p:txBody>
      </p:sp>
      <p:sp>
        <p:nvSpPr>
          <p:cNvPr id="9" name="Text 7"/>
          <p:cNvSpPr txBox="1"/>
          <p:nvPr/>
        </p:nvSpPr>
        <p:spPr>
          <a:xfrm>
            <a:off x="822960" y="3383280"/>
            <a:ext cx="3017520" cy="274320"/>
          </a:xfrm>
          <a:prstGeom prst="rect">
            <a:avLst/>
          </a:prstGeom>
          <a:noFill/>
          <a:ln/>
        </p:spPr>
        <p:txBody>
          <a:bodyPr wrap="square" lIns="0" tIns="0" rIns="0" bIns="0" rtlCol="0" anchor="ctr"/>
          <a:lstStyle/>
          <a:p>
            <a:pPr marL="0" indent="0">
              <a:buNone/>
            </a:pPr>
            <a:r>
              <a:rPr lang="en-US" sz="1200" dirty="0">
                <a:solidFill>
                  <a:srgbClr val="4E7A1C"/>
                </a:solidFill>
                <a:latin typeface="Noto Sans Mono" pitchFamily="34" charset="0"/>
                <a:ea typeface="Noto Sans Mono" pitchFamily="34" charset="-122"/>
                <a:cs typeface="Noto Sans Mono" pitchFamily="34" charset="-120"/>
              </a:rPr>
              <a:t>Data: 8.5 h  WO-IAI-004182</a:t>
            </a:r>
            <a:endParaRPr lang="en-US" sz="1200" dirty="0"/>
          </a:p>
        </p:txBody>
      </p:sp>
      <p:sp>
        <p:nvSpPr>
          <p:cNvPr id="10" name="Text 8"/>
          <p:cNvSpPr txBox="1"/>
          <p:nvPr/>
        </p:nvSpPr>
        <p:spPr>
          <a:xfrm>
            <a:off x="822960" y="3785616"/>
            <a:ext cx="3017520" cy="192024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Recommended. Complete Hebrew and Latin coverage in one family, which no other option here matches. Open licence, so it can be embedded in documents, in the website and in WorkDesk with no cost and no legal question. Neutral enough to sit behind dense data.</a:t>
            </a:r>
            <a:endParaRPr lang="en-US" sz="1200" dirty="0"/>
          </a:p>
        </p:txBody>
      </p:sp>
      <p:sp>
        <p:nvSpPr>
          <p:cNvPr id="11" name="Shape 9"/>
          <p:cNvSpPr/>
          <p:nvPr/>
        </p:nvSpPr>
        <p:spPr>
          <a:xfrm>
            <a:off x="4334256" y="1664208"/>
            <a:ext cx="3520440" cy="4206240"/>
          </a:xfrm>
          <a:prstGeom prst="roundRect">
            <a:avLst>
              <a:gd name="adj" fmla="val 2338"/>
            </a:avLst>
          </a:prstGeom>
          <a:solidFill>
            <a:srgbClr val="FFFFFF"/>
          </a:solidFill>
          <a:ln w="12700">
            <a:solidFill>
              <a:srgbClr val="D8E7C4"/>
            </a:solidFill>
            <a:prstDash val="solid"/>
          </a:ln>
        </p:spPr>
        <p:txBody>
          <a:bodyPr/>
          <a:lstStyle/>
          <a:p>
            <a:endParaRPr lang="en-US"/>
          </a:p>
        </p:txBody>
      </p:sp>
      <p:sp>
        <p:nvSpPr>
          <p:cNvPr id="12" name="Text 10"/>
          <p:cNvSpPr txBox="1"/>
          <p:nvPr/>
        </p:nvSpPr>
        <p:spPr>
          <a:xfrm>
            <a:off x="4590288" y="1810512"/>
            <a:ext cx="3017520" cy="347472"/>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2 · Inter + Source Serif</a:t>
            </a:r>
            <a:endParaRPr lang="en-US" sz="1700" dirty="0"/>
          </a:p>
        </p:txBody>
      </p:sp>
      <p:sp>
        <p:nvSpPr>
          <p:cNvPr id="13" name="Text 11"/>
          <p:cNvSpPr txBox="1"/>
          <p:nvPr/>
        </p:nvSpPr>
        <p:spPr>
          <a:xfrm>
            <a:off x="4590288" y="2450592"/>
            <a:ext cx="3017520" cy="566928"/>
          </a:xfrm>
          <a:prstGeom prst="rect">
            <a:avLst/>
          </a:prstGeom>
          <a:noFill/>
          <a:ln/>
        </p:spPr>
        <p:txBody>
          <a:bodyPr wrap="square" lIns="0" tIns="0" rIns="0" bIns="0" rtlCol="0" anchor="ctr"/>
          <a:lstStyle/>
          <a:p>
            <a:pPr marL="0" indent="0">
              <a:buNone/>
            </a:pPr>
            <a:r>
              <a:rPr lang="en-US" sz="3000" b="1" dirty="0">
                <a:solidFill>
                  <a:srgbClr val="1B2A18"/>
                </a:solidFill>
                <a:latin typeface="Inter" pitchFamily="34" charset="0"/>
                <a:ea typeface="Inter" pitchFamily="34" charset="-122"/>
                <a:cs typeface="Inter" pitchFamily="34" charset="-120"/>
              </a:rPr>
              <a:t>Aa Bb Cc  אבג</a:t>
            </a:r>
            <a:endParaRPr lang="en-US" sz="3000" dirty="0"/>
          </a:p>
        </p:txBody>
      </p:sp>
      <p:sp>
        <p:nvSpPr>
          <p:cNvPr id="14" name="Text 12"/>
          <p:cNvSpPr txBox="1"/>
          <p:nvPr/>
        </p:nvSpPr>
        <p:spPr>
          <a:xfrm>
            <a:off x="4590288" y="3072384"/>
            <a:ext cx="3017520" cy="274320"/>
          </a:xfrm>
          <a:prstGeom prst="rect">
            <a:avLst/>
          </a:prstGeom>
          <a:noFill/>
          <a:ln/>
        </p:spPr>
        <p:txBody>
          <a:bodyPr wrap="square" lIns="0" tIns="0" rIns="0" bIns="0" rtlCol="0" anchor="ctr"/>
          <a:lstStyle/>
          <a:p>
            <a:pPr marL="0" indent="0">
              <a:buNone/>
            </a:pPr>
            <a:r>
              <a:rPr lang="en-US" sz="1200" dirty="0">
                <a:solidFill>
                  <a:srgbClr val="5B6B57"/>
                </a:solidFill>
                <a:latin typeface="Inter" pitchFamily="34" charset="0"/>
                <a:ea typeface="Inter" pitchFamily="34" charset="-122"/>
                <a:cs typeface="Inter" pitchFamily="34" charset="-120"/>
              </a:rPr>
              <a:t>Heading 24 / Body 14 / Caption 12</a:t>
            </a:r>
            <a:endParaRPr lang="en-US" sz="1200" dirty="0"/>
          </a:p>
        </p:txBody>
      </p:sp>
      <p:sp>
        <p:nvSpPr>
          <p:cNvPr id="15" name="Text 13"/>
          <p:cNvSpPr txBox="1"/>
          <p:nvPr/>
        </p:nvSpPr>
        <p:spPr>
          <a:xfrm>
            <a:off x="4590288" y="3383280"/>
            <a:ext cx="3017520" cy="274320"/>
          </a:xfrm>
          <a:prstGeom prst="rect">
            <a:avLst/>
          </a:prstGeom>
          <a:noFill/>
          <a:ln/>
        </p:spPr>
        <p:txBody>
          <a:bodyPr wrap="square" lIns="0" tIns="0" rIns="0" bIns="0" rtlCol="0" anchor="ctr"/>
          <a:lstStyle/>
          <a:p>
            <a:pPr marL="0" indent="0">
              <a:buNone/>
            </a:pPr>
            <a:r>
              <a:rPr lang="en-US" sz="1200" dirty="0">
                <a:solidFill>
                  <a:srgbClr val="4E7A1C"/>
                </a:solidFill>
                <a:latin typeface="IBM Plex Mono" pitchFamily="34" charset="0"/>
                <a:ea typeface="IBM Plex Mono" pitchFamily="34" charset="-122"/>
                <a:cs typeface="IBM Plex Mono" pitchFamily="34" charset="-120"/>
              </a:rPr>
              <a:t>Data: 8.5 h  WO-IAI-004182</a:t>
            </a:r>
            <a:endParaRPr lang="en-US" sz="1200" dirty="0"/>
          </a:p>
        </p:txBody>
      </p:sp>
      <p:sp>
        <p:nvSpPr>
          <p:cNvPr id="16" name="Text 14"/>
          <p:cNvSpPr txBox="1"/>
          <p:nvPr/>
        </p:nvSpPr>
        <p:spPr>
          <a:xfrm>
            <a:off x="4590288" y="3785616"/>
            <a:ext cx="3017520" cy="192024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Sharper and more contemporary on screen. Inter has no Hebrew, so Hebrew material would need a second family — which is the reason this is not the recommendation for a bilingual company.</a:t>
            </a:r>
            <a:endParaRPr lang="en-US" sz="1200" dirty="0"/>
          </a:p>
        </p:txBody>
      </p:sp>
      <p:sp>
        <p:nvSpPr>
          <p:cNvPr id="17" name="Shape 15"/>
          <p:cNvSpPr/>
          <p:nvPr/>
        </p:nvSpPr>
        <p:spPr>
          <a:xfrm>
            <a:off x="8101584" y="1664208"/>
            <a:ext cx="3520440" cy="4206240"/>
          </a:xfrm>
          <a:prstGeom prst="roundRect">
            <a:avLst>
              <a:gd name="adj" fmla="val 2338"/>
            </a:avLst>
          </a:prstGeom>
          <a:solidFill>
            <a:srgbClr val="FFFFFF"/>
          </a:solidFill>
          <a:ln w="12700">
            <a:solidFill>
              <a:srgbClr val="D8E7C4"/>
            </a:solidFill>
            <a:prstDash val="solid"/>
          </a:ln>
        </p:spPr>
        <p:txBody>
          <a:bodyPr/>
          <a:lstStyle/>
          <a:p>
            <a:endParaRPr lang="en-US"/>
          </a:p>
        </p:txBody>
      </p:sp>
      <p:sp>
        <p:nvSpPr>
          <p:cNvPr id="18" name="Text 16"/>
          <p:cNvSpPr txBox="1"/>
          <p:nvPr/>
        </p:nvSpPr>
        <p:spPr>
          <a:xfrm>
            <a:off x="8357616" y="1810512"/>
            <a:ext cx="3017520" cy="347472"/>
          </a:xfrm>
          <a:prstGeom prst="rect">
            <a:avLst/>
          </a:prstGeom>
          <a:noFill/>
          <a:ln/>
        </p:spPr>
        <p:txBody>
          <a:bodyPr wrap="square" lIns="0" tIns="0" rIns="0" bIns="0" rtlCol="0" anchor="ctr"/>
          <a:lstStyle/>
          <a:p>
            <a:pPr marL="0" indent="0">
              <a:buNone/>
            </a:pPr>
            <a:r>
              <a:rPr lang="en-US" sz="1700" b="1" dirty="0">
                <a:solidFill>
                  <a:srgbClr val="1B2A18"/>
                </a:solidFill>
                <a:latin typeface="Calibri" pitchFamily="34" charset="0"/>
                <a:ea typeface="Calibri" pitchFamily="34" charset="-122"/>
                <a:cs typeface="Calibri" pitchFamily="34" charset="-120"/>
              </a:rPr>
              <a:t>3 · Assistant</a:t>
            </a:r>
            <a:endParaRPr lang="en-US" sz="1700" dirty="0"/>
          </a:p>
        </p:txBody>
      </p:sp>
      <p:sp>
        <p:nvSpPr>
          <p:cNvPr id="19" name="Text 17"/>
          <p:cNvSpPr txBox="1"/>
          <p:nvPr/>
        </p:nvSpPr>
        <p:spPr>
          <a:xfrm>
            <a:off x="8357616" y="2450592"/>
            <a:ext cx="3017520" cy="566928"/>
          </a:xfrm>
          <a:prstGeom prst="rect">
            <a:avLst/>
          </a:prstGeom>
          <a:noFill/>
          <a:ln/>
        </p:spPr>
        <p:txBody>
          <a:bodyPr wrap="square" lIns="0" tIns="0" rIns="0" bIns="0" rtlCol="0" anchor="ctr"/>
          <a:lstStyle/>
          <a:p>
            <a:pPr marL="0" indent="0">
              <a:buNone/>
            </a:pPr>
            <a:r>
              <a:rPr lang="en-US" sz="3000" b="1" dirty="0">
                <a:solidFill>
                  <a:srgbClr val="1B2A18"/>
                </a:solidFill>
                <a:latin typeface="Assistant" pitchFamily="34" charset="0"/>
                <a:ea typeface="Assistant" pitchFamily="34" charset="-122"/>
                <a:cs typeface="Assistant" pitchFamily="34" charset="-120"/>
              </a:rPr>
              <a:t>Aa Bb Cc  אבג</a:t>
            </a:r>
            <a:endParaRPr lang="en-US" sz="3000" dirty="0"/>
          </a:p>
        </p:txBody>
      </p:sp>
      <p:sp>
        <p:nvSpPr>
          <p:cNvPr id="20" name="Text 18"/>
          <p:cNvSpPr txBox="1"/>
          <p:nvPr/>
        </p:nvSpPr>
        <p:spPr>
          <a:xfrm>
            <a:off x="8357616" y="3072384"/>
            <a:ext cx="3017520" cy="274320"/>
          </a:xfrm>
          <a:prstGeom prst="rect">
            <a:avLst/>
          </a:prstGeom>
          <a:noFill/>
          <a:ln/>
        </p:spPr>
        <p:txBody>
          <a:bodyPr wrap="square" lIns="0" tIns="0" rIns="0" bIns="0" rtlCol="0" anchor="ctr"/>
          <a:lstStyle/>
          <a:p>
            <a:pPr marL="0" indent="0">
              <a:buNone/>
            </a:pPr>
            <a:r>
              <a:rPr lang="en-US" sz="1200" dirty="0">
                <a:solidFill>
                  <a:srgbClr val="5B6B57"/>
                </a:solidFill>
                <a:latin typeface="Assistant" pitchFamily="34" charset="0"/>
                <a:ea typeface="Assistant" pitchFamily="34" charset="-122"/>
                <a:cs typeface="Assistant" pitchFamily="34" charset="-120"/>
              </a:rPr>
              <a:t>Heading 24 / Body 14 / Caption 12</a:t>
            </a:r>
            <a:endParaRPr lang="en-US" sz="1200" dirty="0"/>
          </a:p>
        </p:txBody>
      </p:sp>
      <p:sp>
        <p:nvSpPr>
          <p:cNvPr id="21" name="Text 19"/>
          <p:cNvSpPr txBox="1"/>
          <p:nvPr/>
        </p:nvSpPr>
        <p:spPr>
          <a:xfrm>
            <a:off x="8357616" y="3383280"/>
            <a:ext cx="3017520" cy="274320"/>
          </a:xfrm>
          <a:prstGeom prst="rect">
            <a:avLst/>
          </a:prstGeom>
          <a:noFill/>
          <a:ln/>
        </p:spPr>
        <p:txBody>
          <a:bodyPr wrap="square" lIns="0" tIns="0" rIns="0" bIns="0" rtlCol="0" anchor="ctr"/>
          <a:lstStyle/>
          <a:p>
            <a:pPr marL="0" indent="0">
              <a:buNone/>
            </a:pPr>
            <a:r>
              <a:rPr lang="en-US" sz="1200" dirty="0">
                <a:solidFill>
                  <a:srgbClr val="4E7A1C"/>
                </a:solidFill>
                <a:latin typeface="Fira Mono" pitchFamily="34" charset="0"/>
                <a:ea typeface="Fira Mono" pitchFamily="34" charset="-122"/>
                <a:cs typeface="Fira Mono" pitchFamily="34" charset="-120"/>
              </a:rPr>
              <a:t>Data: 8.5 h  WO-IAI-004182</a:t>
            </a:r>
            <a:endParaRPr lang="en-US" sz="1200" dirty="0"/>
          </a:p>
        </p:txBody>
      </p:sp>
      <p:sp>
        <p:nvSpPr>
          <p:cNvPr id="22" name="Text 20"/>
          <p:cNvSpPr txBox="1"/>
          <p:nvPr/>
        </p:nvSpPr>
        <p:spPr>
          <a:xfrm>
            <a:off x="8357616" y="3785616"/>
            <a:ext cx="3017520" cy="192024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Designed for Hebrew first, with a competent Latin set. The reverse trade-off of option 2: excellent Hebrew, slightly less refined in English.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Logo directions 1 and 2</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Each direction is shown as a mark only. Wordmark lockups follow on slide 11.</a:t>
            </a:r>
            <a:endParaRPr lang="en-US" sz="1500" dirty="0"/>
          </a:p>
        </p:txBody>
      </p:sp>
      <p:sp>
        <p:nvSpPr>
          <p:cNvPr id="4" name="Shape 2"/>
          <p:cNvSpPr/>
          <p:nvPr/>
        </p:nvSpPr>
        <p:spPr>
          <a:xfrm>
            <a:off x="566928" y="1627632"/>
            <a:ext cx="5349240" cy="4297680"/>
          </a:xfrm>
          <a:prstGeom prst="roundRect">
            <a:avLst>
              <a:gd name="adj" fmla="val 1915"/>
            </a:avLst>
          </a:prstGeom>
          <a:solidFill>
            <a:srgbClr val="F2F8E9"/>
          </a:solidFill>
          <a:ln w="12700">
            <a:solidFill>
              <a:srgbClr val="D8E7C4"/>
            </a:solidFill>
            <a:prstDash val="solid"/>
          </a:ln>
        </p:spPr>
        <p:txBody>
          <a:bodyPr/>
          <a:lstStyle/>
          <a:p>
            <a:endParaRPr lang="en-US"/>
          </a:p>
        </p:txBody>
      </p:sp>
      <p:pic>
        <p:nvPicPr>
          <p:cNvPr id="5" name="Image 0" descr="/home/claude/build/img/logo-scroll.png"/>
          <p:cNvPicPr>
            <a:picLocks noChangeAspect="1"/>
          </p:cNvPicPr>
          <p:nvPr/>
        </p:nvPicPr>
        <p:blipFill>
          <a:blip r:embed="rId3"/>
          <a:stretch>
            <a:fillRect/>
          </a:stretch>
        </p:blipFill>
        <p:spPr>
          <a:xfrm>
            <a:off x="950976" y="1874520"/>
            <a:ext cx="1600200" cy="1600200"/>
          </a:xfrm>
          <a:prstGeom prst="rect">
            <a:avLst/>
          </a:prstGeom>
        </p:spPr>
      </p:pic>
      <p:sp>
        <p:nvSpPr>
          <p:cNvPr id="6" name="Text 3"/>
          <p:cNvSpPr txBox="1"/>
          <p:nvPr/>
        </p:nvSpPr>
        <p:spPr>
          <a:xfrm>
            <a:off x="2852928" y="1847088"/>
            <a:ext cx="2834640" cy="274320"/>
          </a:xfrm>
          <a:prstGeom prst="rect">
            <a:avLst/>
          </a:prstGeom>
          <a:noFill/>
          <a:ln/>
        </p:spPr>
        <p:txBody>
          <a:bodyPr wrap="square" lIns="0" tIns="0" rIns="0" bIns="0" rtlCol="0" anchor="ctr"/>
          <a:lstStyle/>
          <a:p>
            <a:pPr marL="0" indent="0">
              <a:buNone/>
            </a:pPr>
            <a:r>
              <a:rPr lang="en-US" sz="1100" b="1" kern="0" spc="200" dirty="0">
                <a:solidFill>
                  <a:srgbClr val="8CC63E"/>
                </a:solidFill>
                <a:latin typeface="Calibri" pitchFamily="34" charset="0"/>
                <a:ea typeface="Calibri" pitchFamily="34" charset="-122"/>
                <a:cs typeface="Calibri" pitchFamily="34" charset="-120"/>
              </a:rPr>
              <a:t>01</a:t>
            </a:r>
            <a:endParaRPr lang="en-US" sz="1100" dirty="0"/>
          </a:p>
        </p:txBody>
      </p:sp>
      <p:sp>
        <p:nvSpPr>
          <p:cNvPr id="7" name="Text 4"/>
          <p:cNvSpPr txBox="1"/>
          <p:nvPr/>
        </p:nvSpPr>
        <p:spPr>
          <a:xfrm>
            <a:off x="2852928" y="2103120"/>
            <a:ext cx="2834640" cy="420624"/>
          </a:xfrm>
          <a:prstGeom prst="rect">
            <a:avLst/>
          </a:prstGeom>
          <a:noFill/>
          <a:ln/>
        </p:spPr>
        <p:txBody>
          <a:bodyPr wrap="square" lIns="0" tIns="0" rIns="0" bIns="0" rtlCol="0" anchor="ctr"/>
          <a:lstStyle/>
          <a:p>
            <a:pPr marL="0" indent="0">
              <a:buNone/>
            </a:pPr>
            <a:r>
              <a:rPr lang="en-US" sz="2400" b="1" dirty="0">
                <a:solidFill>
                  <a:srgbClr val="1B2A18"/>
                </a:solidFill>
                <a:latin typeface="Calibri" pitchFamily="34" charset="0"/>
                <a:ea typeface="Calibri" pitchFamily="34" charset="-122"/>
                <a:cs typeface="Calibri" pitchFamily="34" charset="-120"/>
              </a:rPr>
              <a:t>The Ring</a:t>
            </a:r>
            <a:endParaRPr lang="en-US" sz="2400" dirty="0"/>
          </a:p>
        </p:txBody>
      </p:sp>
      <p:sp>
        <p:nvSpPr>
          <p:cNvPr id="8" name="Text 5"/>
          <p:cNvSpPr txBox="1"/>
          <p:nvPr/>
        </p:nvSpPr>
        <p:spPr>
          <a:xfrm>
            <a:off x="2852928" y="2615184"/>
            <a:ext cx="2834640" cy="155448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A ring cut by a single rule. Reads as a G, and as a sheet rolled and seen end-on — which is what the word galil means. The rule is the editorial mark: the line a reviewer draws.</a:t>
            </a:r>
            <a:endParaRPr lang="en-US" sz="1200" dirty="0"/>
          </a:p>
        </p:txBody>
      </p:sp>
      <p:sp>
        <p:nvSpPr>
          <p:cNvPr id="9" name="Text 6"/>
          <p:cNvSpPr txBox="1"/>
          <p:nvPr/>
        </p:nvSpPr>
        <p:spPr>
          <a:xfrm>
            <a:off x="950976" y="3767328"/>
            <a:ext cx="2743200" cy="237744"/>
          </a:xfrm>
          <a:prstGeom prst="rect">
            <a:avLst/>
          </a:prstGeom>
          <a:noFill/>
          <a:ln/>
        </p:spPr>
        <p:txBody>
          <a:bodyPr wrap="square" lIns="0" tIns="0" rIns="0" bIns="0" rtlCol="0" anchor="ctr"/>
          <a:lstStyle/>
          <a:p>
            <a:pPr marL="0" indent="0">
              <a:buNone/>
            </a:pPr>
            <a:r>
              <a:rPr lang="en-US" sz="1050" b="1" kern="0" spc="80" dirty="0">
                <a:solidFill>
                  <a:srgbClr val="4E7A1C"/>
                </a:solidFill>
                <a:latin typeface="Calibri" pitchFamily="34" charset="0"/>
                <a:ea typeface="Calibri" pitchFamily="34" charset="-122"/>
                <a:cs typeface="Calibri" pitchFamily="34" charset="-120"/>
              </a:rPr>
              <a:t>At interface sizes</a:t>
            </a:r>
            <a:endParaRPr lang="en-US" sz="1050" dirty="0"/>
          </a:p>
        </p:txBody>
      </p:sp>
      <p:pic>
        <p:nvPicPr>
          <p:cNvPr id="10" name="Image 1" descr="/home/claude/build/img/logo-scroll.png"/>
          <p:cNvPicPr>
            <a:picLocks noChangeAspect="1"/>
          </p:cNvPicPr>
          <p:nvPr/>
        </p:nvPicPr>
        <p:blipFill>
          <a:blip r:embed="rId3"/>
          <a:stretch>
            <a:fillRect/>
          </a:stretch>
        </p:blipFill>
        <p:spPr>
          <a:xfrm>
            <a:off x="950976" y="4041648"/>
            <a:ext cx="512064" cy="512064"/>
          </a:xfrm>
          <a:prstGeom prst="rect">
            <a:avLst/>
          </a:prstGeom>
        </p:spPr>
      </p:pic>
      <p:pic>
        <p:nvPicPr>
          <p:cNvPr id="11" name="Image 2" descr="/home/claude/build/img/logo-scroll.png"/>
          <p:cNvPicPr>
            <a:picLocks noChangeAspect="1"/>
          </p:cNvPicPr>
          <p:nvPr/>
        </p:nvPicPr>
        <p:blipFill>
          <a:blip r:embed="rId3"/>
          <a:stretch>
            <a:fillRect/>
          </a:stretch>
        </p:blipFill>
        <p:spPr>
          <a:xfrm>
            <a:off x="1664208" y="4114800"/>
            <a:ext cx="365760" cy="365760"/>
          </a:xfrm>
          <a:prstGeom prst="rect">
            <a:avLst/>
          </a:prstGeom>
        </p:spPr>
      </p:pic>
      <p:pic>
        <p:nvPicPr>
          <p:cNvPr id="12" name="Image 3" descr="/home/claude/build/img/logo-scroll.png"/>
          <p:cNvPicPr>
            <a:picLocks noChangeAspect="1"/>
          </p:cNvPicPr>
          <p:nvPr/>
        </p:nvPicPr>
        <p:blipFill>
          <a:blip r:embed="rId3"/>
          <a:stretch>
            <a:fillRect/>
          </a:stretch>
        </p:blipFill>
        <p:spPr>
          <a:xfrm>
            <a:off x="2377440" y="4178808"/>
            <a:ext cx="237744" cy="237744"/>
          </a:xfrm>
          <a:prstGeom prst="rect">
            <a:avLst/>
          </a:prstGeom>
        </p:spPr>
      </p:pic>
      <p:pic>
        <p:nvPicPr>
          <p:cNvPr id="13" name="Image 4" descr="/home/claude/build/img/logo-scroll.png"/>
          <p:cNvPicPr>
            <a:picLocks noChangeAspect="1"/>
          </p:cNvPicPr>
          <p:nvPr/>
        </p:nvPicPr>
        <p:blipFill>
          <a:blip r:embed="rId3"/>
          <a:stretch>
            <a:fillRect/>
          </a:stretch>
        </p:blipFill>
        <p:spPr>
          <a:xfrm>
            <a:off x="3090672" y="4219956"/>
            <a:ext cx="155448" cy="155448"/>
          </a:xfrm>
          <a:prstGeom prst="rect">
            <a:avLst/>
          </a:prstGeom>
        </p:spPr>
      </p:pic>
      <p:sp>
        <p:nvSpPr>
          <p:cNvPr id="14" name="Shape 7"/>
          <p:cNvSpPr/>
          <p:nvPr/>
        </p:nvSpPr>
        <p:spPr>
          <a:xfrm>
            <a:off x="950976" y="4754880"/>
            <a:ext cx="4572000" cy="914400"/>
          </a:xfrm>
          <a:prstGeom prst="roundRect">
            <a:avLst>
              <a:gd name="adj" fmla="val 7000"/>
            </a:avLst>
          </a:prstGeom>
          <a:solidFill>
            <a:srgbClr val="FFFFFF"/>
          </a:solidFill>
          <a:ln w="12700">
            <a:solidFill>
              <a:srgbClr val="D8E7C4"/>
            </a:solidFill>
            <a:prstDash val="solid"/>
          </a:ln>
        </p:spPr>
        <p:txBody>
          <a:bodyPr/>
          <a:lstStyle/>
          <a:p>
            <a:endParaRPr lang="en-US"/>
          </a:p>
        </p:txBody>
      </p:sp>
      <p:sp>
        <p:nvSpPr>
          <p:cNvPr id="15" name="Text 8"/>
          <p:cNvSpPr txBox="1"/>
          <p:nvPr/>
        </p:nvSpPr>
        <p:spPr>
          <a:xfrm>
            <a:off x="1115568" y="4864608"/>
            <a:ext cx="4251960" cy="713232"/>
          </a:xfrm>
          <a:prstGeom prst="rect">
            <a:avLst/>
          </a:prstGeom>
          <a:noFill/>
          <a:ln/>
        </p:spPr>
        <p:txBody>
          <a:bodyPr wrap="square" lIns="0" tIns="0" rIns="0" bIns="0" rtlCol="0" anchor="ctr"/>
          <a:lstStyle/>
          <a:p>
            <a:pPr marL="0" indent="0">
              <a:lnSpc>
                <a:spcPct val="120000"/>
              </a:lnSpc>
              <a:buNone/>
            </a:pPr>
            <a:r>
              <a:rPr lang="en-US" sz="1200" b="1" dirty="0">
                <a:solidFill>
                  <a:srgbClr val="1B2A18"/>
                </a:solidFill>
                <a:latin typeface="Calibri" pitchFamily="34" charset="0"/>
                <a:ea typeface="Calibri" pitchFamily="34" charset="-122"/>
                <a:cs typeface="Calibri" pitchFamily="34" charset="-120"/>
              </a:rPr>
              <a:t>Trade-off:  </a:t>
            </a:r>
            <a:r>
              <a:rPr lang="en-US" sz="1200" dirty="0">
                <a:solidFill>
                  <a:srgbClr val="5B6B57"/>
                </a:solidFill>
                <a:latin typeface="Calibri" pitchFamily="34" charset="0"/>
                <a:ea typeface="Calibri" pitchFamily="34" charset="-122"/>
                <a:cs typeface="Calibri" pitchFamily="34" charset="-120"/>
              </a:rPr>
              <a:t>Strongest at small sizes of anything here. Two colours only. Works reversed on dark.</a:t>
            </a:r>
            <a:endParaRPr lang="en-US" sz="1200" dirty="0"/>
          </a:p>
        </p:txBody>
      </p:sp>
      <p:sp>
        <p:nvSpPr>
          <p:cNvPr id="16" name="Shape 9"/>
          <p:cNvSpPr/>
          <p:nvPr/>
        </p:nvSpPr>
        <p:spPr>
          <a:xfrm>
            <a:off x="6236208" y="1627632"/>
            <a:ext cx="5349240" cy="4297680"/>
          </a:xfrm>
          <a:prstGeom prst="roundRect">
            <a:avLst>
              <a:gd name="adj" fmla="val 1915"/>
            </a:avLst>
          </a:prstGeom>
          <a:solidFill>
            <a:srgbClr val="FFFFFF"/>
          </a:solidFill>
          <a:ln w="12700">
            <a:solidFill>
              <a:srgbClr val="D8E7C4"/>
            </a:solidFill>
            <a:prstDash val="solid"/>
          </a:ln>
        </p:spPr>
        <p:txBody>
          <a:bodyPr/>
          <a:lstStyle/>
          <a:p>
            <a:endParaRPr lang="en-US"/>
          </a:p>
        </p:txBody>
      </p:sp>
      <p:pic>
        <p:nvPicPr>
          <p:cNvPr id="17" name="Image 5" descr="/home/claude/build/img/logo-coil.png"/>
          <p:cNvPicPr>
            <a:picLocks noChangeAspect="1"/>
          </p:cNvPicPr>
          <p:nvPr/>
        </p:nvPicPr>
        <p:blipFill>
          <a:blip r:embed="rId4"/>
          <a:stretch>
            <a:fillRect/>
          </a:stretch>
        </p:blipFill>
        <p:spPr>
          <a:xfrm>
            <a:off x="6620256" y="1874520"/>
            <a:ext cx="1600200" cy="1600200"/>
          </a:xfrm>
          <a:prstGeom prst="rect">
            <a:avLst/>
          </a:prstGeom>
        </p:spPr>
      </p:pic>
      <p:sp>
        <p:nvSpPr>
          <p:cNvPr id="18" name="Text 10"/>
          <p:cNvSpPr txBox="1"/>
          <p:nvPr/>
        </p:nvSpPr>
        <p:spPr>
          <a:xfrm>
            <a:off x="8522208" y="1847088"/>
            <a:ext cx="2834640" cy="274320"/>
          </a:xfrm>
          <a:prstGeom prst="rect">
            <a:avLst/>
          </a:prstGeom>
          <a:noFill/>
          <a:ln/>
        </p:spPr>
        <p:txBody>
          <a:bodyPr wrap="square" lIns="0" tIns="0" rIns="0" bIns="0" rtlCol="0" anchor="ctr"/>
          <a:lstStyle/>
          <a:p>
            <a:pPr marL="0" indent="0">
              <a:buNone/>
            </a:pPr>
            <a:r>
              <a:rPr lang="en-US" sz="1100" b="1" kern="0" spc="200" dirty="0">
                <a:solidFill>
                  <a:srgbClr val="8CC63E"/>
                </a:solidFill>
                <a:latin typeface="Calibri" pitchFamily="34" charset="0"/>
                <a:ea typeface="Calibri" pitchFamily="34" charset="-122"/>
                <a:cs typeface="Calibri" pitchFamily="34" charset="-120"/>
              </a:rPr>
              <a:t>02</a:t>
            </a:r>
            <a:endParaRPr lang="en-US" sz="1100" dirty="0"/>
          </a:p>
        </p:txBody>
      </p:sp>
      <p:sp>
        <p:nvSpPr>
          <p:cNvPr id="19" name="Text 11"/>
          <p:cNvSpPr txBox="1"/>
          <p:nvPr/>
        </p:nvSpPr>
        <p:spPr>
          <a:xfrm>
            <a:off x="8522208" y="2103120"/>
            <a:ext cx="2834640" cy="420624"/>
          </a:xfrm>
          <a:prstGeom prst="rect">
            <a:avLst/>
          </a:prstGeom>
          <a:noFill/>
          <a:ln/>
        </p:spPr>
        <p:txBody>
          <a:bodyPr wrap="square" lIns="0" tIns="0" rIns="0" bIns="0" rtlCol="0" anchor="ctr"/>
          <a:lstStyle/>
          <a:p>
            <a:pPr marL="0" indent="0">
              <a:buNone/>
            </a:pPr>
            <a:r>
              <a:rPr lang="en-US" sz="2400" b="1" dirty="0">
                <a:solidFill>
                  <a:srgbClr val="1B2A18"/>
                </a:solidFill>
                <a:latin typeface="Calibri" pitchFamily="34" charset="0"/>
                <a:ea typeface="Calibri" pitchFamily="34" charset="-122"/>
                <a:cs typeface="Calibri" pitchFamily="34" charset="-120"/>
              </a:rPr>
              <a:t>The Gimel</a:t>
            </a:r>
            <a:endParaRPr lang="en-US" sz="2400" dirty="0"/>
          </a:p>
        </p:txBody>
      </p:sp>
      <p:sp>
        <p:nvSpPr>
          <p:cNvPr id="20" name="Text 12"/>
          <p:cNvSpPr txBox="1"/>
          <p:nvPr/>
        </p:nvSpPr>
        <p:spPr>
          <a:xfrm>
            <a:off x="8522208" y="2615184"/>
            <a:ext cx="2834640" cy="155448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A single continuous stroke abstracted from the Hebrew letter ג. Keeps a direct line to the current brush lettering while becoming geometric enough to reproduce cleanly.</a:t>
            </a:r>
            <a:endParaRPr lang="en-US" sz="1200" dirty="0"/>
          </a:p>
        </p:txBody>
      </p:sp>
      <p:sp>
        <p:nvSpPr>
          <p:cNvPr id="21" name="Text 13"/>
          <p:cNvSpPr txBox="1"/>
          <p:nvPr/>
        </p:nvSpPr>
        <p:spPr>
          <a:xfrm>
            <a:off x="6620256" y="3767328"/>
            <a:ext cx="2743200" cy="237744"/>
          </a:xfrm>
          <a:prstGeom prst="rect">
            <a:avLst/>
          </a:prstGeom>
          <a:noFill/>
          <a:ln/>
        </p:spPr>
        <p:txBody>
          <a:bodyPr wrap="square" lIns="0" tIns="0" rIns="0" bIns="0" rtlCol="0" anchor="ctr"/>
          <a:lstStyle/>
          <a:p>
            <a:pPr marL="0" indent="0">
              <a:buNone/>
            </a:pPr>
            <a:r>
              <a:rPr lang="en-US" sz="1050" b="1" kern="0" spc="80" dirty="0">
                <a:solidFill>
                  <a:srgbClr val="4E7A1C"/>
                </a:solidFill>
                <a:latin typeface="Calibri" pitchFamily="34" charset="0"/>
                <a:ea typeface="Calibri" pitchFamily="34" charset="-122"/>
                <a:cs typeface="Calibri" pitchFamily="34" charset="-120"/>
              </a:rPr>
              <a:t>At interface sizes</a:t>
            </a:r>
            <a:endParaRPr lang="en-US" sz="1050" dirty="0"/>
          </a:p>
        </p:txBody>
      </p:sp>
      <p:pic>
        <p:nvPicPr>
          <p:cNvPr id="22" name="Image 6" descr="/home/claude/build/img/logo-coil.png"/>
          <p:cNvPicPr>
            <a:picLocks noChangeAspect="1"/>
          </p:cNvPicPr>
          <p:nvPr/>
        </p:nvPicPr>
        <p:blipFill>
          <a:blip r:embed="rId4"/>
          <a:stretch>
            <a:fillRect/>
          </a:stretch>
        </p:blipFill>
        <p:spPr>
          <a:xfrm>
            <a:off x="6620256" y="4041648"/>
            <a:ext cx="512064" cy="512064"/>
          </a:xfrm>
          <a:prstGeom prst="rect">
            <a:avLst/>
          </a:prstGeom>
        </p:spPr>
      </p:pic>
      <p:pic>
        <p:nvPicPr>
          <p:cNvPr id="23" name="Image 7" descr="/home/claude/build/img/logo-coil.png"/>
          <p:cNvPicPr>
            <a:picLocks noChangeAspect="1"/>
          </p:cNvPicPr>
          <p:nvPr/>
        </p:nvPicPr>
        <p:blipFill>
          <a:blip r:embed="rId4"/>
          <a:stretch>
            <a:fillRect/>
          </a:stretch>
        </p:blipFill>
        <p:spPr>
          <a:xfrm>
            <a:off x="7333488" y="4114800"/>
            <a:ext cx="365760" cy="365760"/>
          </a:xfrm>
          <a:prstGeom prst="rect">
            <a:avLst/>
          </a:prstGeom>
        </p:spPr>
      </p:pic>
      <p:pic>
        <p:nvPicPr>
          <p:cNvPr id="24" name="Image 8" descr="/home/claude/build/img/logo-coil.png"/>
          <p:cNvPicPr>
            <a:picLocks noChangeAspect="1"/>
          </p:cNvPicPr>
          <p:nvPr/>
        </p:nvPicPr>
        <p:blipFill>
          <a:blip r:embed="rId4"/>
          <a:stretch>
            <a:fillRect/>
          </a:stretch>
        </p:blipFill>
        <p:spPr>
          <a:xfrm>
            <a:off x="8046720" y="4178808"/>
            <a:ext cx="237744" cy="237744"/>
          </a:xfrm>
          <a:prstGeom prst="rect">
            <a:avLst/>
          </a:prstGeom>
        </p:spPr>
      </p:pic>
      <p:pic>
        <p:nvPicPr>
          <p:cNvPr id="25" name="Image 9" descr="/home/claude/build/img/logo-coil.png"/>
          <p:cNvPicPr>
            <a:picLocks noChangeAspect="1"/>
          </p:cNvPicPr>
          <p:nvPr/>
        </p:nvPicPr>
        <p:blipFill>
          <a:blip r:embed="rId4"/>
          <a:stretch>
            <a:fillRect/>
          </a:stretch>
        </p:blipFill>
        <p:spPr>
          <a:xfrm>
            <a:off x="8759952" y="4219956"/>
            <a:ext cx="155448" cy="155448"/>
          </a:xfrm>
          <a:prstGeom prst="rect">
            <a:avLst/>
          </a:prstGeom>
        </p:spPr>
      </p:pic>
      <p:sp>
        <p:nvSpPr>
          <p:cNvPr id="26" name="Shape 14"/>
          <p:cNvSpPr/>
          <p:nvPr/>
        </p:nvSpPr>
        <p:spPr>
          <a:xfrm>
            <a:off x="6620256" y="4754880"/>
            <a:ext cx="4572000" cy="914400"/>
          </a:xfrm>
          <a:prstGeom prst="roundRect">
            <a:avLst>
              <a:gd name="adj" fmla="val 7000"/>
            </a:avLst>
          </a:prstGeom>
          <a:solidFill>
            <a:srgbClr val="F2F8E9"/>
          </a:solidFill>
          <a:ln w="12700">
            <a:solidFill>
              <a:srgbClr val="D8E7C4"/>
            </a:solidFill>
            <a:prstDash val="solid"/>
          </a:ln>
        </p:spPr>
        <p:txBody>
          <a:bodyPr/>
          <a:lstStyle/>
          <a:p>
            <a:endParaRPr lang="en-US"/>
          </a:p>
        </p:txBody>
      </p:sp>
      <p:sp>
        <p:nvSpPr>
          <p:cNvPr id="27" name="Text 15"/>
          <p:cNvSpPr txBox="1"/>
          <p:nvPr/>
        </p:nvSpPr>
        <p:spPr>
          <a:xfrm>
            <a:off x="6784848" y="4864608"/>
            <a:ext cx="4251960" cy="713232"/>
          </a:xfrm>
          <a:prstGeom prst="rect">
            <a:avLst/>
          </a:prstGeom>
          <a:noFill/>
          <a:ln/>
        </p:spPr>
        <p:txBody>
          <a:bodyPr wrap="square" lIns="0" tIns="0" rIns="0" bIns="0" rtlCol="0" anchor="ctr"/>
          <a:lstStyle/>
          <a:p>
            <a:pPr marL="0" indent="0">
              <a:lnSpc>
                <a:spcPct val="120000"/>
              </a:lnSpc>
              <a:buNone/>
            </a:pPr>
            <a:r>
              <a:rPr lang="en-US" sz="1200" b="1" dirty="0">
                <a:solidFill>
                  <a:srgbClr val="1B2A18"/>
                </a:solidFill>
                <a:latin typeface="Calibri" pitchFamily="34" charset="0"/>
                <a:ea typeface="Calibri" pitchFamily="34" charset="-122"/>
                <a:cs typeface="Calibri" pitchFamily="34" charset="-120"/>
              </a:rPr>
              <a:t>Trade-off:  </a:t>
            </a:r>
            <a:r>
              <a:rPr lang="en-US" sz="1200" dirty="0">
                <a:solidFill>
                  <a:srgbClr val="5B6B57"/>
                </a:solidFill>
                <a:latin typeface="Calibri" pitchFamily="34" charset="0"/>
                <a:ea typeface="Calibri" pitchFamily="34" charset="-122"/>
                <a:cs typeface="Calibri" pitchFamily="34" charset="-120"/>
              </a:rPr>
              <a:t>The most distinctly Israeli option. Also the least self-explanatory to an international client.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Logo directions 3 and 4</a:t>
            </a:r>
            <a:endParaRPr lang="en-US" sz="3400" dirty="0"/>
          </a:p>
        </p:txBody>
      </p:sp>
      <p:sp>
        <p:nvSpPr>
          <p:cNvPr id="3" name="Shape 1"/>
          <p:cNvSpPr/>
          <p:nvPr/>
        </p:nvSpPr>
        <p:spPr>
          <a:xfrm>
            <a:off x="566928" y="1627632"/>
            <a:ext cx="5349240" cy="4297680"/>
          </a:xfrm>
          <a:prstGeom prst="roundRect">
            <a:avLst>
              <a:gd name="adj" fmla="val 1915"/>
            </a:avLst>
          </a:prstGeom>
          <a:solidFill>
            <a:srgbClr val="F2F8E9"/>
          </a:solidFill>
          <a:ln w="12700">
            <a:solidFill>
              <a:srgbClr val="D8E7C4"/>
            </a:solidFill>
            <a:prstDash val="solid"/>
          </a:ln>
        </p:spPr>
        <p:txBody>
          <a:bodyPr/>
          <a:lstStyle/>
          <a:p>
            <a:endParaRPr lang="en-US"/>
          </a:p>
        </p:txBody>
      </p:sp>
      <p:pic>
        <p:nvPicPr>
          <p:cNvPr id="4" name="Image 0" descr="/home/claude/build/img/logo-aperture.png"/>
          <p:cNvPicPr>
            <a:picLocks noChangeAspect="1"/>
          </p:cNvPicPr>
          <p:nvPr/>
        </p:nvPicPr>
        <p:blipFill>
          <a:blip r:embed="rId3"/>
          <a:stretch>
            <a:fillRect/>
          </a:stretch>
        </p:blipFill>
        <p:spPr>
          <a:xfrm>
            <a:off x="950976" y="1874520"/>
            <a:ext cx="1600200" cy="1600200"/>
          </a:xfrm>
          <a:prstGeom prst="rect">
            <a:avLst/>
          </a:prstGeom>
        </p:spPr>
      </p:pic>
      <p:sp>
        <p:nvSpPr>
          <p:cNvPr id="5" name="Text 2"/>
          <p:cNvSpPr txBox="1"/>
          <p:nvPr/>
        </p:nvSpPr>
        <p:spPr>
          <a:xfrm>
            <a:off x="2852928" y="1847088"/>
            <a:ext cx="2834640" cy="274320"/>
          </a:xfrm>
          <a:prstGeom prst="rect">
            <a:avLst/>
          </a:prstGeom>
          <a:noFill/>
          <a:ln/>
        </p:spPr>
        <p:txBody>
          <a:bodyPr wrap="square" lIns="0" tIns="0" rIns="0" bIns="0" rtlCol="0" anchor="ctr"/>
          <a:lstStyle/>
          <a:p>
            <a:pPr marL="0" indent="0">
              <a:buNone/>
            </a:pPr>
            <a:r>
              <a:rPr lang="en-US" sz="1100" b="1" kern="0" spc="200" dirty="0">
                <a:solidFill>
                  <a:srgbClr val="8CC63E"/>
                </a:solidFill>
                <a:latin typeface="Calibri" pitchFamily="34" charset="0"/>
                <a:ea typeface="Calibri" pitchFamily="34" charset="-122"/>
                <a:cs typeface="Calibri" pitchFamily="34" charset="-120"/>
              </a:rPr>
              <a:t>03</a:t>
            </a:r>
            <a:endParaRPr lang="en-US" sz="1100" dirty="0"/>
          </a:p>
        </p:txBody>
      </p:sp>
      <p:sp>
        <p:nvSpPr>
          <p:cNvPr id="6" name="Text 3"/>
          <p:cNvSpPr txBox="1"/>
          <p:nvPr/>
        </p:nvSpPr>
        <p:spPr>
          <a:xfrm>
            <a:off x="2852928" y="2103120"/>
            <a:ext cx="2834640" cy="420624"/>
          </a:xfrm>
          <a:prstGeom prst="rect">
            <a:avLst/>
          </a:prstGeom>
          <a:noFill/>
          <a:ln/>
        </p:spPr>
        <p:txBody>
          <a:bodyPr wrap="square" lIns="0" tIns="0" rIns="0" bIns="0" rtlCol="0" anchor="ctr"/>
          <a:lstStyle/>
          <a:p>
            <a:pPr marL="0" indent="0">
              <a:buNone/>
            </a:pPr>
            <a:r>
              <a:rPr lang="en-US" sz="2400" b="1" dirty="0">
                <a:solidFill>
                  <a:srgbClr val="1B2A18"/>
                </a:solidFill>
                <a:latin typeface="Calibri" pitchFamily="34" charset="0"/>
                <a:ea typeface="Calibri" pitchFamily="34" charset="-122"/>
                <a:cs typeface="Calibri" pitchFamily="34" charset="-120"/>
              </a:rPr>
              <a:t>The Cycle</a:t>
            </a:r>
            <a:endParaRPr lang="en-US" sz="2400" dirty="0"/>
          </a:p>
        </p:txBody>
      </p:sp>
      <p:sp>
        <p:nvSpPr>
          <p:cNvPr id="7" name="Text 4"/>
          <p:cNvSpPr txBox="1"/>
          <p:nvPr/>
        </p:nvSpPr>
        <p:spPr>
          <a:xfrm>
            <a:off x="2852928" y="2615184"/>
            <a:ext cx="2834640" cy="155448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Four arcs with clear gaps around a solid centre: draft, review, approve, deliver. The company's actual process, drawn.</a:t>
            </a:r>
            <a:endParaRPr lang="en-US" sz="1200" dirty="0"/>
          </a:p>
        </p:txBody>
      </p:sp>
      <p:sp>
        <p:nvSpPr>
          <p:cNvPr id="8" name="Text 5"/>
          <p:cNvSpPr txBox="1"/>
          <p:nvPr/>
        </p:nvSpPr>
        <p:spPr>
          <a:xfrm>
            <a:off x="950976" y="3767328"/>
            <a:ext cx="2743200" cy="237744"/>
          </a:xfrm>
          <a:prstGeom prst="rect">
            <a:avLst/>
          </a:prstGeom>
          <a:noFill/>
          <a:ln/>
        </p:spPr>
        <p:txBody>
          <a:bodyPr wrap="square" lIns="0" tIns="0" rIns="0" bIns="0" rtlCol="0" anchor="ctr"/>
          <a:lstStyle/>
          <a:p>
            <a:pPr marL="0" indent="0">
              <a:buNone/>
            </a:pPr>
            <a:r>
              <a:rPr lang="en-US" sz="1050" b="1" kern="0" spc="80" dirty="0">
                <a:solidFill>
                  <a:srgbClr val="4E7A1C"/>
                </a:solidFill>
                <a:latin typeface="Calibri" pitchFamily="34" charset="0"/>
                <a:ea typeface="Calibri" pitchFamily="34" charset="-122"/>
                <a:cs typeface="Calibri" pitchFamily="34" charset="-120"/>
              </a:rPr>
              <a:t>At interface sizes</a:t>
            </a:r>
            <a:endParaRPr lang="en-US" sz="1050" dirty="0"/>
          </a:p>
        </p:txBody>
      </p:sp>
      <p:pic>
        <p:nvPicPr>
          <p:cNvPr id="9" name="Image 1" descr="/home/claude/build/img/logo-aperture.png"/>
          <p:cNvPicPr>
            <a:picLocks noChangeAspect="1"/>
          </p:cNvPicPr>
          <p:nvPr/>
        </p:nvPicPr>
        <p:blipFill>
          <a:blip r:embed="rId3"/>
          <a:stretch>
            <a:fillRect/>
          </a:stretch>
        </p:blipFill>
        <p:spPr>
          <a:xfrm>
            <a:off x="950976" y="4041648"/>
            <a:ext cx="512064" cy="512064"/>
          </a:xfrm>
          <a:prstGeom prst="rect">
            <a:avLst/>
          </a:prstGeom>
        </p:spPr>
      </p:pic>
      <p:pic>
        <p:nvPicPr>
          <p:cNvPr id="10" name="Image 2" descr="/home/claude/build/img/logo-aperture.png"/>
          <p:cNvPicPr>
            <a:picLocks noChangeAspect="1"/>
          </p:cNvPicPr>
          <p:nvPr/>
        </p:nvPicPr>
        <p:blipFill>
          <a:blip r:embed="rId3"/>
          <a:stretch>
            <a:fillRect/>
          </a:stretch>
        </p:blipFill>
        <p:spPr>
          <a:xfrm>
            <a:off x="1664208" y="4114800"/>
            <a:ext cx="365760" cy="365760"/>
          </a:xfrm>
          <a:prstGeom prst="rect">
            <a:avLst/>
          </a:prstGeom>
        </p:spPr>
      </p:pic>
      <p:pic>
        <p:nvPicPr>
          <p:cNvPr id="11" name="Image 3" descr="/home/claude/build/img/logo-aperture.png"/>
          <p:cNvPicPr>
            <a:picLocks noChangeAspect="1"/>
          </p:cNvPicPr>
          <p:nvPr/>
        </p:nvPicPr>
        <p:blipFill>
          <a:blip r:embed="rId3"/>
          <a:stretch>
            <a:fillRect/>
          </a:stretch>
        </p:blipFill>
        <p:spPr>
          <a:xfrm>
            <a:off x="2377440" y="4178808"/>
            <a:ext cx="237744" cy="237744"/>
          </a:xfrm>
          <a:prstGeom prst="rect">
            <a:avLst/>
          </a:prstGeom>
        </p:spPr>
      </p:pic>
      <p:pic>
        <p:nvPicPr>
          <p:cNvPr id="12" name="Image 4" descr="/home/claude/build/img/logo-aperture.png"/>
          <p:cNvPicPr>
            <a:picLocks noChangeAspect="1"/>
          </p:cNvPicPr>
          <p:nvPr/>
        </p:nvPicPr>
        <p:blipFill>
          <a:blip r:embed="rId3"/>
          <a:stretch>
            <a:fillRect/>
          </a:stretch>
        </p:blipFill>
        <p:spPr>
          <a:xfrm>
            <a:off x="3090672" y="4219956"/>
            <a:ext cx="155448" cy="155448"/>
          </a:xfrm>
          <a:prstGeom prst="rect">
            <a:avLst/>
          </a:prstGeom>
        </p:spPr>
      </p:pic>
      <p:sp>
        <p:nvSpPr>
          <p:cNvPr id="13" name="Shape 6"/>
          <p:cNvSpPr/>
          <p:nvPr/>
        </p:nvSpPr>
        <p:spPr>
          <a:xfrm>
            <a:off x="950976" y="4754880"/>
            <a:ext cx="4572000" cy="914400"/>
          </a:xfrm>
          <a:prstGeom prst="roundRect">
            <a:avLst>
              <a:gd name="adj" fmla="val 7000"/>
            </a:avLst>
          </a:prstGeom>
          <a:solidFill>
            <a:srgbClr val="FFFFFF"/>
          </a:solidFill>
          <a:ln w="12700">
            <a:solidFill>
              <a:srgbClr val="D8E7C4"/>
            </a:solidFill>
            <a:prstDash val="solid"/>
          </a:ln>
        </p:spPr>
        <p:txBody>
          <a:bodyPr/>
          <a:lstStyle/>
          <a:p>
            <a:endParaRPr lang="en-US"/>
          </a:p>
        </p:txBody>
      </p:sp>
      <p:sp>
        <p:nvSpPr>
          <p:cNvPr id="14" name="Text 7"/>
          <p:cNvSpPr txBox="1"/>
          <p:nvPr/>
        </p:nvSpPr>
        <p:spPr>
          <a:xfrm>
            <a:off x="1115568" y="4864608"/>
            <a:ext cx="4251960" cy="713232"/>
          </a:xfrm>
          <a:prstGeom prst="rect">
            <a:avLst/>
          </a:prstGeom>
          <a:noFill/>
          <a:ln/>
        </p:spPr>
        <p:txBody>
          <a:bodyPr wrap="square" lIns="0" tIns="0" rIns="0" bIns="0" rtlCol="0" anchor="ctr"/>
          <a:lstStyle/>
          <a:p>
            <a:pPr marL="0" indent="0">
              <a:lnSpc>
                <a:spcPct val="120000"/>
              </a:lnSpc>
              <a:buNone/>
            </a:pPr>
            <a:r>
              <a:rPr lang="en-US" sz="1200" b="1" dirty="0">
                <a:solidFill>
                  <a:srgbClr val="1B2A18"/>
                </a:solidFill>
                <a:latin typeface="Calibri" pitchFamily="34" charset="0"/>
                <a:ea typeface="Calibri" pitchFamily="34" charset="-122"/>
                <a:cs typeface="Calibri" pitchFamily="34" charset="-120"/>
              </a:rPr>
              <a:t>Trade-off:  </a:t>
            </a:r>
            <a:r>
              <a:rPr lang="en-US" sz="1200" dirty="0">
                <a:solidFill>
                  <a:srgbClr val="5B6B57"/>
                </a:solidFill>
                <a:latin typeface="Calibri" pitchFamily="34" charset="0"/>
                <a:ea typeface="Calibri" pitchFamily="34" charset="-122"/>
                <a:cs typeface="Calibri" pitchFamily="34" charset="-120"/>
              </a:rPr>
              <a:t>Meaningful and ownable. Slightly busier; needs care below 24 px.</a:t>
            </a:r>
            <a:endParaRPr lang="en-US" sz="1200" dirty="0"/>
          </a:p>
        </p:txBody>
      </p:sp>
      <p:sp>
        <p:nvSpPr>
          <p:cNvPr id="15" name="Shape 8"/>
          <p:cNvSpPr/>
          <p:nvPr/>
        </p:nvSpPr>
        <p:spPr>
          <a:xfrm>
            <a:off x="6236208" y="1627632"/>
            <a:ext cx="5349240" cy="4297680"/>
          </a:xfrm>
          <a:prstGeom prst="roundRect">
            <a:avLst>
              <a:gd name="adj" fmla="val 1915"/>
            </a:avLst>
          </a:prstGeom>
          <a:solidFill>
            <a:srgbClr val="FFFFFF"/>
          </a:solidFill>
          <a:ln w="12700">
            <a:solidFill>
              <a:srgbClr val="D8E7C4"/>
            </a:solidFill>
            <a:prstDash val="solid"/>
          </a:ln>
        </p:spPr>
        <p:txBody>
          <a:bodyPr/>
          <a:lstStyle/>
          <a:p>
            <a:endParaRPr lang="en-US"/>
          </a:p>
        </p:txBody>
      </p:sp>
      <p:pic>
        <p:nvPicPr>
          <p:cNvPr id="16" name="Image 5" descr="/home/claude/build/img/logo-bracket.png"/>
          <p:cNvPicPr>
            <a:picLocks noChangeAspect="1"/>
          </p:cNvPicPr>
          <p:nvPr/>
        </p:nvPicPr>
        <p:blipFill>
          <a:blip r:embed="rId4"/>
          <a:stretch>
            <a:fillRect/>
          </a:stretch>
        </p:blipFill>
        <p:spPr>
          <a:xfrm>
            <a:off x="6620256" y="1874520"/>
            <a:ext cx="1600200" cy="1600200"/>
          </a:xfrm>
          <a:prstGeom prst="rect">
            <a:avLst/>
          </a:prstGeom>
        </p:spPr>
      </p:pic>
      <p:sp>
        <p:nvSpPr>
          <p:cNvPr id="17" name="Text 9"/>
          <p:cNvSpPr txBox="1"/>
          <p:nvPr/>
        </p:nvSpPr>
        <p:spPr>
          <a:xfrm>
            <a:off x="8522208" y="1847088"/>
            <a:ext cx="2834640" cy="274320"/>
          </a:xfrm>
          <a:prstGeom prst="rect">
            <a:avLst/>
          </a:prstGeom>
          <a:noFill/>
          <a:ln/>
        </p:spPr>
        <p:txBody>
          <a:bodyPr wrap="square" lIns="0" tIns="0" rIns="0" bIns="0" rtlCol="0" anchor="ctr"/>
          <a:lstStyle/>
          <a:p>
            <a:pPr marL="0" indent="0">
              <a:buNone/>
            </a:pPr>
            <a:r>
              <a:rPr lang="en-US" sz="1100" b="1" kern="0" spc="200" dirty="0">
                <a:solidFill>
                  <a:srgbClr val="8CC63E"/>
                </a:solidFill>
                <a:latin typeface="Calibri" pitchFamily="34" charset="0"/>
                <a:ea typeface="Calibri" pitchFamily="34" charset="-122"/>
                <a:cs typeface="Calibri" pitchFamily="34" charset="-120"/>
              </a:rPr>
              <a:t>04</a:t>
            </a:r>
            <a:endParaRPr lang="en-US" sz="1100" dirty="0"/>
          </a:p>
        </p:txBody>
      </p:sp>
      <p:sp>
        <p:nvSpPr>
          <p:cNvPr id="18" name="Text 10"/>
          <p:cNvSpPr txBox="1"/>
          <p:nvPr/>
        </p:nvSpPr>
        <p:spPr>
          <a:xfrm>
            <a:off x="8522208" y="2103120"/>
            <a:ext cx="2834640" cy="420624"/>
          </a:xfrm>
          <a:prstGeom prst="rect">
            <a:avLst/>
          </a:prstGeom>
          <a:noFill/>
          <a:ln/>
        </p:spPr>
        <p:txBody>
          <a:bodyPr wrap="square" lIns="0" tIns="0" rIns="0" bIns="0" rtlCol="0" anchor="ctr"/>
          <a:lstStyle/>
          <a:p>
            <a:pPr marL="0" indent="0">
              <a:buNone/>
            </a:pPr>
            <a:r>
              <a:rPr lang="en-US" sz="2400" b="1" dirty="0">
                <a:solidFill>
                  <a:srgbClr val="1B2A18"/>
                </a:solidFill>
                <a:latin typeface="Calibri" pitchFamily="34" charset="0"/>
                <a:ea typeface="Calibri" pitchFamily="34" charset="-122"/>
                <a:cs typeface="Calibri" pitchFamily="34" charset="-120"/>
              </a:rPr>
              <a:t>The Bracket</a:t>
            </a:r>
            <a:endParaRPr lang="en-US" sz="2400" dirty="0"/>
          </a:p>
        </p:txBody>
      </p:sp>
      <p:sp>
        <p:nvSpPr>
          <p:cNvPr id="19" name="Text 11"/>
          <p:cNvSpPr txBox="1"/>
          <p:nvPr/>
        </p:nvSpPr>
        <p:spPr>
          <a:xfrm>
            <a:off x="8522208" y="2615184"/>
            <a:ext cx="2834640" cy="155448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A G held inside square brackets. Brackets are the universal mark of structured content — markup, documentation, specification.</a:t>
            </a:r>
            <a:endParaRPr lang="en-US" sz="1200" dirty="0"/>
          </a:p>
        </p:txBody>
      </p:sp>
      <p:sp>
        <p:nvSpPr>
          <p:cNvPr id="20" name="Text 12"/>
          <p:cNvSpPr txBox="1"/>
          <p:nvPr/>
        </p:nvSpPr>
        <p:spPr>
          <a:xfrm>
            <a:off x="6620256" y="3767328"/>
            <a:ext cx="2743200" cy="237744"/>
          </a:xfrm>
          <a:prstGeom prst="rect">
            <a:avLst/>
          </a:prstGeom>
          <a:noFill/>
          <a:ln/>
        </p:spPr>
        <p:txBody>
          <a:bodyPr wrap="square" lIns="0" tIns="0" rIns="0" bIns="0" rtlCol="0" anchor="ctr"/>
          <a:lstStyle/>
          <a:p>
            <a:pPr marL="0" indent="0">
              <a:buNone/>
            </a:pPr>
            <a:r>
              <a:rPr lang="en-US" sz="1050" b="1" kern="0" spc="80" dirty="0">
                <a:solidFill>
                  <a:srgbClr val="4E7A1C"/>
                </a:solidFill>
                <a:latin typeface="Calibri" pitchFamily="34" charset="0"/>
                <a:ea typeface="Calibri" pitchFamily="34" charset="-122"/>
                <a:cs typeface="Calibri" pitchFamily="34" charset="-120"/>
              </a:rPr>
              <a:t>At interface sizes</a:t>
            </a:r>
            <a:endParaRPr lang="en-US" sz="1050" dirty="0"/>
          </a:p>
        </p:txBody>
      </p:sp>
      <p:pic>
        <p:nvPicPr>
          <p:cNvPr id="21" name="Image 6" descr="/home/claude/build/img/logo-bracket.png"/>
          <p:cNvPicPr>
            <a:picLocks noChangeAspect="1"/>
          </p:cNvPicPr>
          <p:nvPr/>
        </p:nvPicPr>
        <p:blipFill>
          <a:blip r:embed="rId4"/>
          <a:stretch>
            <a:fillRect/>
          </a:stretch>
        </p:blipFill>
        <p:spPr>
          <a:xfrm>
            <a:off x="6620256" y="4041648"/>
            <a:ext cx="512064" cy="512064"/>
          </a:xfrm>
          <a:prstGeom prst="rect">
            <a:avLst/>
          </a:prstGeom>
        </p:spPr>
      </p:pic>
      <p:pic>
        <p:nvPicPr>
          <p:cNvPr id="22" name="Image 7" descr="/home/claude/build/img/logo-bracket.png"/>
          <p:cNvPicPr>
            <a:picLocks noChangeAspect="1"/>
          </p:cNvPicPr>
          <p:nvPr/>
        </p:nvPicPr>
        <p:blipFill>
          <a:blip r:embed="rId4"/>
          <a:stretch>
            <a:fillRect/>
          </a:stretch>
        </p:blipFill>
        <p:spPr>
          <a:xfrm>
            <a:off x="7333488" y="4114800"/>
            <a:ext cx="365760" cy="365760"/>
          </a:xfrm>
          <a:prstGeom prst="rect">
            <a:avLst/>
          </a:prstGeom>
        </p:spPr>
      </p:pic>
      <p:pic>
        <p:nvPicPr>
          <p:cNvPr id="23" name="Image 8" descr="/home/claude/build/img/logo-bracket.png"/>
          <p:cNvPicPr>
            <a:picLocks noChangeAspect="1"/>
          </p:cNvPicPr>
          <p:nvPr/>
        </p:nvPicPr>
        <p:blipFill>
          <a:blip r:embed="rId4"/>
          <a:stretch>
            <a:fillRect/>
          </a:stretch>
        </p:blipFill>
        <p:spPr>
          <a:xfrm>
            <a:off x="8046720" y="4178808"/>
            <a:ext cx="237744" cy="237744"/>
          </a:xfrm>
          <a:prstGeom prst="rect">
            <a:avLst/>
          </a:prstGeom>
        </p:spPr>
      </p:pic>
      <p:pic>
        <p:nvPicPr>
          <p:cNvPr id="24" name="Image 9" descr="/home/claude/build/img/logo-bracket.png"/>
          <p:cNvPicPr>
            <a:picLocks noChangeAspect="1"/>
          </p:cNvPicPr>
          <p:nvPr/>
        </p:nvPicPr>
        <p:blipFill>
          <a:blip r:embed="rId4"/>
          <a:stretch>
            <a:fillRect/>
          </a:stretch>
        </p:blipFill>
        <p:spPr>
          <a:xfrm>
            <a:off x="8759952" y="4219956"/>
            <a:ext cx="155448" cy="155448"/>
          </a:xfrm>
          <a:prstGeom prst="rect">
            <a:avLst/>
          </a:prstGeom>
        </p:spPr>
      </p:pic>
      <p:sp>
        <p:nvSpPr>
          <p:cNvPr id="25" name="Shape 13"/>
          <p:cNvSpPr/>
          <p:nvPr/>
        </p:nvSpPr>
        <p:spPr>
          <a:xfrm>
            <a:off x="6620256" y="4754880"/>
            <a:ext cx="4572000" cy="914400"/>
          </a:xfrm>
          <a:prstGeom prst="roundRect">
            <a:avLst>
              <a:gd name="adj" fmla="val 7000"/>
            </a:avLst>
          </a:prstGeom>
          <a:solidFill>
            <a:srgbClr val="F2F8E9"/>
          </a:solidFill>
          <a:ln w="12700">
            <a:solidFill>
              <a:srgbClr val="D8E7C4"/>
            </a:solidFill>
            <a:prstDash val="solid"/>
          </a:ln>
        </p:spPr>
        <p:txBody>
          <a:bodyPr/>
          <a:lstStyle/>
          <a:p>
            <a:endParaRPr lang="en-US"/>
          </a:p>
        </p:txBody>
      </p:sp>
      <p:sp>
        <p:nvSpPr>
          <p:cNvPr id="26" name="Text 14"/>
          <p:cNvSpPr txBox="1"/>
          <p:nvPr/>
        </p:nvSpPr>
        <p:spPr>
          <a:xfrm>
            <a:off x="6784848" y="4864608"/>
            <a:ext cx="4251960" cy="713232"/>
          </a:xfrm>
          <a:prstGeom prst="rect">
            <a:avLst/>
          </a:prstGeom>
          <a:noFill/>
          <a:ln/>
        </p:spPr>
        <p:txBody>
          <a:bodyPr wrap="square" lIns="0" tIns="0" rIns="0" bIns="0" rtlCol="0" anchor="ctr"/>
          <a:lstStyle/>
          <a:p>
            <a:pPr marL="0" indent="0">
              <a:lnSpc>
                <a:spcPct val="120000"/>
              </a:lnSpc>
              <a:buNone/>
            </a:pPr>
            <a:r>
              <a:rPr lang="en-US" sz="1200" b="1" dirty="0">
                <a:solidFill>
                  <a:srgbClr val="1B2A18"/>
                </a:solidFill>
                <a:latin typeface="Calibri" pitchFamily="34" charset="0"/>
                <a:ea typeface="Calibri" pitchFamily="34" charset="-122"/>
                <a:cs typeface="Calibri" pitchFamily="34" charset="-120"/>
              </a:rPr>
              <a:t>Trade-off:  </a:t>
            </a:r>
            <a:r>
              <a:rPr lang="en-US" sz="1200" dirty="0">
                <a:solidFill>
                  <a:srgbClr val="5B6B57"/>
                </a:solidFill>
                <a:latin typeface="Calibri" pitchFamily="34" charset="0"/>
                <a:ea typeface="Calibri" pitchFamily="34" charset="-122"/>
                <a:cs typeface="Calibri" pitchFamily="34" charset="-120"/>
              </a:rPr>
              <a:t>The clearest statement of what GALIL does. Also the most conventional.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Logo directions 5 and 6</a:t>
            </a:r>
            <a:endParaRPr lang="en-US" sz="3400" dirty="0"/>
          </a:p>
        </p:txBody>
      </p:sp>
      <p:sp>
        <p:nvSpPr>
          <p:cNvPr id="3" name="Shape 1"/>
          <p:cNvSpPr/>
          <p:nvPr/>
        </p:nvSpPr>
        <p:spPr>
          <a:xfrm>
            <a:off x="566928" y="1627632"/>
            <a:ext cx="5349240" cy="4297680"/>
          </a:xfrm>
          <a:prstGeom prst="roundRect">
            <a:avLst>
              <a:gd name="adj" fmla="val 1915"/>
            </a:avLst>
          </a:prstGeom>
          <a:solidFill>
            <a:srgbClr val="F2F8E9"/>
          </a:solidFill>
          <a:ln w="12700">
            <a:solidFill>
              <a:srgbClr val="D8E7C4"/>
            </a:solidFill>
            <a:prstDash val="solid"/>
          </a:ln>
        </p:spPr>
        <p:txBody>
          <a:bodyPr/>
          <a:lstStyle/>
          <a:p>
            <a:endParaRPr lang="en-US"/>
          </a:p>
        </p:txBody>
      </p:sp>
      <p:pic>
        <p:nvPicPr>
          <p:cNvPr id="4" name="Image 0" descr="/home/claude/build/img/logo-layers.png"/>
          <p:cNvPicPr>
            <a:picLocks noChangeAspect="1"/>
          </p:cNvPicPr>
          <p:nvPr/>
        </p:nvPicPr>
        <p:blipFill>
          <a:blip r:embed="rId3"/>
          <a:stretch>
            <a:fillRect/>
          </a:stretch>
        </p:blipFill>
        <p:spPr>
          <a:xfrm>
            <a:off x="950976" y="1874520"/>
            <a:ext cx="1600200" cy="1600200"/>
          </a:xfrm>
          <a:prstGeom prst="rect">
            <a:avLst/>
          </a:prstGeom>
        </p:spPr>
      </p:pic>
      <p:sp>
        <p:nvSpPr>
          <p:cNvPr id="5" name="Text 2"/>
          <p:cNvSpPr txBox="1"/>
          <p:nvPr/>
        </p:nvSpPr>
        <p:spPr>
          <a:xfrm>
            <a:off x="2852928" y="1847088"/>
            <a:ext cx="2834640" cy="274320"/>
          </a:xfrm>
          <a:prstGeom prst="rect">
            <a:avLst/>
          </a:prstGeom>
          <a:noFill/>
          <a:ln/>
        </p:spPr>
        <p:txBody>
          <a:bodyPr wrap="square" lIns="0" tIns="0" rIns="0" bIns="0" rtlCol="0" anchor="ctr"/>
          <a:lstStyle/>
          <a:p>
            <a:pPr marL="0" indent="0">
              <a:buNone/>
            </a:pPr>
            <a:r>
              <a:rPr lang="en-US" sz="1100" b="1" kern="0" spc="200" dirty="0">
                <a:solidFill>
                  <a:srgbClr val="8CC63E"/>
                </a:solidFill>
                <a:latin typeface="Calibri" pitchFamily="34" charset="0"/>
                <a:ea typeface="Calibri" pitchFamily="34" charset="-122"/>
                <a:cs typeface="Calibri" pitchFamily="34" charset="-120"/>
              </a:rPr>
              <a:t>05</a:t>
            </a:r>
            <a:endParaRPr lang="en-US" sz="1100" dirty="0"/>
          </a:p>
        </p:txBody>
      </p:sp>
      <p:sp>
        <p:nvSpPr>
          <p:cNvPr id="6" name="Text 3"/>
          <p:cNvSpPr txBox="1"/>
          <p:nvPr/>
        </p:nvSpPr>
        <p:spPr>
          <a:xfrm>
            <a:off x="2852928" y="2103120"/>
            <a:ext cx="2834640" cy="420624"/>
          </a:xfrm>
          <a:prstGeom prst="rect">
            <a:avLst/>
          </a:prstGeom>
          <a:noFill/>
          <a:ln/>
        </p:spPr>
        <p:txBody>
          <a:bodyPr wrap="square" lIns="0" tIns="0" rIns="0" bIns="0" rtlCol="0" anchor="ctr"/>
          <a:lstStyle/>
          <a:p>
            <a:pPr marL="0" indent="0">
              <a:buNone/>
            </a:pPr>
            <a:r>
              <a:rPr lang="en-US" sz="2400" b="1" dirty="0">
                <a:solidFill>
                  <a:srgbClr val="1B2A18"/>
                </a:solidFill>
                <a:latin typeface="Calibri" pitchFamily="34" charset="0"/>
                <a:ea typeface="Calibri" pitchFamily="34" charset="-122"/>
                <a:cs typeface="Calibri" pitchFamily="34" charset="-120"/>
              </a:rPr>
              <a:t>The Sheet</a:t>
            </a:r>
            <a:endParaRPr lang="en-US" sz="2400" dirty="0"/>
          </a:p>
        </p:txBody>
      </p:sp>
      <p:sp>
        <p:nvSpPr>
          <p:cNvPr id="7" name="Text 4"/>
          <p:cNvSpPr txBox="1"/>
          <p:nvPr/>
        </p:nvSpPr>
        <p:spPr>
          <a:xfrm>
            <a:off x="2852928" y="2615184"/>
            <a:ext cx="2834640" cy="155448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Stacked pages with a folded corner and a set of rules. Literal, warm, immediately legible.</a:t>
            </a:r>
            <a:endParaRPr lang="en-US" sz="1200" dirty="0"/>
          </a:p>
        </p:txBody>
      </p:sp>
      <p:sp>
        <p:nvSpPr>
          <p:cNvPr id="8" name="Text 5"/>
          <p:cNvSpPr txBox="1"/>
          <p:nvPr/>
        </p:nvSpPr>
        <p:spPr>
          <a:xfrm>
            <a:off x="950976" y="3767328"/>
            <a:ext cx="2743200" cy="237744"/>
          </a:xfrm>
          <a:prstGeom prst="rect">
            <a:avLst/>
          </a:prstGeom>
          <a:noFill/>
          <a:ln/>
        </p:spPr>
        <p:txBody>
          <a:bodyPr wrap="square" lIns="0" tIns="0" rIns="0" bIns="0" rtlCol="0" anchor="ctr"/>
          <a:lstStyle/>
          <a:p>
            <a:pPr marL="0" indent="0">
              <a:buNone/>
            </a:pPr>
            <a:r>
              <a:rPr lang="en-US" sz="1050" b="1" kern="0" spc="80" dirty="0">
                <a:solidFill>
                  <a:srgbClr val="4E7A1C"/>
                </a:solidFill>
                <a:latin typeface="Calibri" pitchFamily="34" charset="0"/>
                <a:ea typeface="Calibri" pitchFamily="34" charset="-122"/>
                <a:cs typeface="Calibri" pitchFamily="34" charset="-120"/>
              </a:rPr>
              <a:t>At interface sizes</a:t>
            </a:r>
            <a:endParaRPr lang="en-US" sz="1050" dirty="0"/>
          </a:p>
        </p:txBody>
      </p:sp>
      <p:pic>
        <p:nvPicPr>
          <p:cNvPr id="9" name="Image 1" descr="/home/claude/build/img/logo-layers.png"/>
          <p:cNvPicPr>
            <a:picLocks noChangeAspect="1"/>
          </p:cNvPicPr>
          <p:nvPr/>
        </p:nvPicPr>
        <p:blipFill>
          <a:blip r:embed="rId3"/>
          <a:stretch>
            <a:fillRect/>
          </a:stretch>
        </p:blipFill>
        <p:spPr>
          <a:xfrm>
            <a:off x="950976" y="4041648"/>
            <a:ext cx="512064" cy="512064"/>
          </a:xfrm>
          <a:prstGeom prst="rect">
            <a:avLst/>
          </a:prstGeom>
        </p:spPr>
      </p:pic>
      <p:pic>
        <p:nvPicPr>
          <p:cNvPr id="10" name="Image 2" descr="/home/claude/build/img/logo-layers.png"/>
          <p:cNvPicPr>
            <a:picLocks noChangeAspect="1"/>
          </p:cNvPicPr>
          <p:nvPr/>
        </p:nvPicPr>
        <p:blipFill>
          <a:blip r:embed="rId3"/>
          <a:stretch>
            <a:fillRect/>
          </a:stretch>
        </p:blipFill>
        <p:spPr>
          <a:xfrm>
            <a:off x="1664208" y="4114800"/>
            <a:ext cx="365760" cy="365760"/>
          </a:xfrm>
          <a:prstGeom prst="rect">
            <a:avLst/>
          </a:prstGeom>
        </p:spPr>
      </p:pic>
      <p:pic>
        <p:nvPicPr>
          <p:cNvPr id="11" name="Image 3" descr="/home/claude/build/img/logo-layers.png"/>
          <p:cNvPicPr>
            <a:picLocks noChangeAspect="1"/>
          </p:cNvPicPr>
          <p:nvPr/>
        </p:nvPicPr>
        <p:blipFill>
          <a:blip r:embed="rId3"/>
          <a:stretch>
            <a:fillRect/>
          </a:stretch>
        </p:blipFill>
        <p:spPr>
          <a:xfrm>
            <a:off x="2377440" y="4178808"/>
            <a:ext cx="237744" cy="237744"/>
          </a:xfrm>
          <a:prstGeom prst="rect">
            <a:avLst/>
          </a:prstGeom>
        </p:spPr>
      </p:pic>
      <p:pic>
        <p:nvPicPr>
          <p:cNvPr id="12" name="Image 4" descr="/home/claude/build/img/logo-layers.png"/>
          <p:cNvPicPr>
            <a:picLocks noChangeAspect="1"/>
          </p:cNvPicPr>
          <p:nvPr/>
        </p:nvPicPr>
        <p:blipFill>
          <a:blip r:embed="rId3"/>
          <a:stretch>
            <a:fillRect/>
          </a:stretch>
        </p:blipFill>
        <p:spPr>
          <a:xfrm>
            <a:off x="3090672" y="4219956"/>
            <a:ext cx="155448" cy="155448"/>
          </a:xfrm>
          <a:prstGeom prst="rect">
            <a:avLst/>
          </a:prstGeom>
        </p:spPr>
      </p:pic>
      <p:sp>
        <p:nvSpPr>
          <p:cNvPr id="13" name="Shape 6"/>
          <p:cNvSpPr/>
          <p:nvPr/>
        </p:nvSpPr>
        <p:spPr>
          <a:xfrm>
            <a:off x="950976" y="4754880"/>
            <a:ext cx="4572000" cy="914400"/>
          </a:xfrm>
          <a:prstGeom prst="roundRect">
            <a:avLst>
              <a:gd name="adj" fmla="val 7000"/>
            </a:avLst>
          </a:prstGeom>
          <a:solidFill>
            <a:srgbClr val="FFFFFF"/>
          </a:solidFill>
          <a:ln w="12700">
            <a:solidFill>
              <a:srgbClr val="D8E7C4"/>
            </a:solidFill>
            <a:prstDash val="solid"/>
          </a:ln>
        </p:spPr>
        <p:txBody>
          <a:bodyPr/>
          <a:lstStyle/>
          <a:p>
            <a:endParaRPr lang="en-US"/>
          </a:p>
        </p:txBody>
      </p:sp>
      <p:sp>
        <p:nvSpPr>
          <p:cNvPr id="14" name="Text 7"/>
          <p:cNvSpPr txBox="1"/>
          <p:nvPr/>
        </p:nvSpPr>
        <p:spPr>
          <a:xfrm>
            <a:off x="1115568" y="4864608"/>
            <a:ext cx="4251960" cy="713232"/>
          </a:xfrm>
          <a:prstGeom prst="rect">
            <a:avLst/>
          </a:prstGeom>
          <a:noFill/>
          <a:ln/>
        </p:spPr>
        <p:txBody>
          <a:bodyPr wrap="square" lIns="0" tIns="0" rIns="0" bIns="0" rtlCol="0" anchor="ctr"/>
          <a:lstStyle/>
          <a:p>
            <a:pPr marL="0" indent="0">
              <a:lnSpc>
                <a:spcPct val="120000"/>
              </a:lnSpc>
              <a:buNone/>
            </a:pPr>
            <a:r>
              <a:rPr lang="en-US" sz="1200" b="1" dirty="0">
                <a:solidFill>
                  <a:srgbClr val="1B2A18"/>
                </a:solidFill>
                <a:latin typeface="Calibri" pitchFamily="34" charset="0"/>
                <a:ea typeface="Calibri" pitchFamily="34" charset="-122"/>
                <a:cs typeface="Calibri" pitchFamily="34" charset="-120"/>
              </a:rPr>
              <a:t>Trade-off:  </a:t>
            </a:r>
            <a:r>
              <a:rPr lang="en-US" sz="1200" dirty="0">
                <a:solidFill>
                  <a:srgbClr val="5B6B57"/>
                </a:solidFill>
                <a:latin typeface="Calibri" pitchFamily="34" charset="0"/>
                <a:ea typeface="Calibri" pitchFamily="34" charset="-122"/>
                <a:cs typeface="Calibri" pitchFamily="34" charset="-120"/>
              </a:rPr>
              <a:t>Instantly understood. Risks looking like a generic document icon; would need a strong wordmark beside it.</a:t>
            </a:r>
            <a:endParaRPr lang="en-US" sz="1200" dirty="0"/>
          </a:p>
        </p:txBody>
      </p:sp>
      <p:sp>
        <p:nvSpPr>
          <p:cNvPr id="15" name="Shape 8"/>
          <p:cNvSpPr/>
          <p:nvPr/>
        </p:nvSpPr>
        <p:spPr>
          <a:xfrm>
            <a:off x="6236208" y="1627632"/>
            <a:ext cx="5349240" cy="4297680"/>
          </a:xfrm>
          <a:prstGeom prst="roundRect">
            <a:avLst>
              <a:gd name="adj" fmla="val 1915"/>
            </a:avLst>
          </a:prstGeom>
          <a:solidFill>
            <a:srgbClr val="FFFFFF"/>
          </a:solidFill>
          <a:ln w="12700">
            <a:solidFill>
              <a:srgbClr val="D8E7C4"/>
            </a:solidFill>
            <a:prstDash val="solid"/>
          </a:ln>
        </p:spPr>
        <p:txBody>
          <a:bodyPr/>
          <a:lstStyle/>
          <a:p>
            <a:endParaRPr lang="en-US"/>
          </a:p>
        </p:txBody>
      </p:sp>
      <p:pic>
        <p:nvPicPr>
          <p:cNvPr id="16" name="Image 5" descr="/home/claude/build/img/logo-path.png"/>
          <p:cNvPicPr>
            <a:picLocks noChangeAspect="1"/>
          </p:cNvPicPr>
          <p:nvPr/>
        </p:nvPicPr>
        <p:blipFill>
          <a:blip r:embed="rId4"/>
          <a:stretch>
            <a:fillRect/>
          </a:stretch>
        </p:blipFill>
        <p:spPr>
          <a:xfrm>
            <a:off x="6620256" y="1874520"/>
            <a:ext cx="1600200" cy="1600200"/>
          </a:xfrm>
          <a:prstGeom prst="rect">
            <a:avLst/>
          </a:prstGeom>
        </p:spPr>
      </p:pic>
      <p:sp>
        <p:nvSpPr>
          <p:cNvPr id="17" name="Text 9"/>
          <p:cNvSpPr txBox="1"/>
          <p:nvPr/>
        </p:nvSpPr>
        <p:spPr>
          <a:xfrm>
            <a:off x="8522208" y="1847088"/>
            <a:ext cx="2834640" cy="274320"/>
          </a:xfrm>
          <a:prstGeom prst="rect">
            <a:avLst/>
          </a:prstGeom>
          <a:noFill/>
          <a:ln/>
        </p:spPr>
        <p:txBody>
          <a:bodyPr wrap="square" lIns="0" tIns="0" rIns="0" bIns="0" rtlCol="0" anchor="ctr"/>
          <a:lstStyle/>
          <a:p>
            <a:pPr marL="0" indent="0">
              <a:buNone/>
            </a:pPr>
            <a:r>
              <a:rPr lang="en-US" sz="1100" b="1" kern="0" spc="200" dirty="0">
                <a:solidFill>
                  <a:srgbClr val="8CC63E"/>
                </a:solidFill>
                <a:latin typeface="Calibri" pitchFamily="34" charset="0"/>
                <a:ea typeface="Calibri" pitchFamily="34" charset="-122"/>
                <a:cs typeface="Calibri" pitchFamily="34" charset="-120"/>
              </a:rPr>
              <a:t>06</a:t>
            </a:r>
            <a:endParaRPr lang="en-US" sz="1100" dirty="0"/>
          </a:p>
        </p:txBody>
      </p:sp>
      <p:sp>
        <p:nvSpPr>
          <p:cNvPr id="18" name="Text 10"/>
          <p:cNvSpPr txBox="1"/>
          <p:nvPr/>
        </p:nvSpPr>
        <p:spPr>
          <a:xfrm>
            <a:off x="8522208" y="2103120"/>
            <a:ext cx="2834640" cy="420624"/>
          </a:xfrm>
          <a:prstGeom prst="rect">
            <a:avLst/>
          </a:prstGeom>
          <a:noFill/>
          <a:ln/>
        </p:spPr>
        <p:txBody>
          <a:bodyPr wrap="square" lIns="0" tIns="0" rIns="0" bIns="0" rtlCol="0" anchor="ctr"/>
          <a:lstStyle/>
          <a:p>
            <a:pPr marL="0" indent="0">
              <a:buNone/>
            </a:pPr>
            <a:r>
              <a:rPr lang="en-US" sz="2400" b="1" dirty="0">
                <a:solidFill>
                  <a:srgbClr val="1B2A18"/>
                </a:solidFill>
                <a:latin typeface="Calibri" pitchFamily="34" charset="0"/>
                <a:ea typeface="Calibri" pitchFamily="34" charset="-122"/>
                <a:cs typeface="Calibri" pitchFamily="34" charset="-120"/>
              </a:rPr>
              <a:t>The Leaf</a:t>
            </a:r>
            <a:endParaRPr lang="en-US" sz="2400" dirty="0"/>
          </a:p>
        </p:txBody>
      </p:sp>
      <p:sp>
        <p:nvSpPr>
          <p:cNvPr id="19" name="Text 11"/>
          <p:cNvSpPr txBox="1"/>
          <p:nvPr/>
        </p:nvSpPr>
        <p:spPr>
          <a:xfrm>
            <a:off x="8522208" y="2615184"/>
            <a:ext cx="2834640" cy="1554480"/>
          </a:xfrm>
          <a:prstGeom prst="rect">
            <a:avLst/>
          </a:prstGeom>
          <a:noFill/>
          <a:ln/>
        </p:spPr>
        <p:txBody>
          <a:bodyPr wrap="square" lIns="0" tIns="0" rIns="0" bIns="0" rtlCol="0" anchor="ctr"/>
          <a:lstStyle/>
          <a:p>
            <a:pPr marL="0" indent="0">
              <a:lnSpc>
                <a:spcPct val="122000"/>
              </a:lnSpc>
              <a:buNone/>
            </a:pPr>
            <a:r>
              <a:rPr lang="en-US" sz="1200" dirty="0">
                <a:solidFill>
                  <a:srgbClr val="5B6B57"/>
                </a:solidFill>
                <a:latin typeface="Calibri" pitchFamily="34" charset="0"/>
                <a:ea typeface="Calibri" pitchFamily="34" charset="-122"/>
                <a:cs typeface="Calibri" pitchFamily="34" charset="-120"/>
              </a:rPr>
              <a:t>A single organic sweep, carrying forward the fluid brush quality of the current mark without the lettering.</a:t>
            </a:r>
            <a:endParaRPr lang="en-US" sz="1200" dirty="0"/>
          </a:p>
        </p:txBody>
      </p:sp>
      <p:sp>
        <p:nvSpPr>
          <p:cNvPr id="20" name="Text 12"/>
          <p:cNvSpPr txBox="1"/>
          <p:nvPr/>
        </p:nvSpPr>
        <p:spPr>
          <a:xfrm>
            <a:off x="6620256" y="3767328"/>
            <a:ext cx="2743200" cy="237744"/>
          </a:xfrm>
          <a:prstGeom prst="rect">
            <a:avLst/>
          </a:prstGeom>
          <a:noFill/>
          <a:ln/>
        </p:spPr>
        <p:txBody>
          <a:bodyPr wrap="square" lIns="0" tIns="0" rIns="0" bIns="0" rtlCol="0" anchor="ctr"/>
          <a:lstStyle/>
          <a:p>
            <a:pPr marL="0" indent="0">
              <a:buNone/>
            </a:pPr>
            <a:r>
              <a:rPr lang="en-US" sz="1050" b="1" kern="0" spc="80" dirty="0">
                <a:solidFill>
                  <a:srgbClr val="4E7A1C"/>
                </a:solidFill>
                <a:latin typeface="Calibri" pitchFamily="34" charset="0"/>
                <a:ea typeface="Calibri" pitchFamily="34" charset="-122"/>
                <a:cs typeface="Calibri" pitchFamily="34" charset="-120"/>
              </a:rPr>
              <a:t>At interface sizes</a:t>
            </a:r>
            <a:endParaRPr lang="en-US" sz="1050" dirty="0"/>
          </a:p>
        </p:txBody>
      </p:sp>
      <p:pic>
        <p:nvPicPr>
          <p:cNvPr id="21" name="Image 6" descr="/home/claude/build/img/logo-path.png"/>
          <p:cNvPicPr>
            <a:picLocks noChangeAspect="1"/>
          </p:cNvPicPr>
          <p:nvPr/>
        </p:nvPicPr>
        <p:blipFill>
          <a:blip r:embed="rId4"/>
          <a:stretch>
            <a:fillRect/>
          </a:stretch>
        </p:blipFill>
        <p:spPr>
          <a:xfrm>
            <a:off x="6620256" y="4041648"/>
            <a:ext cx="512064" cy="512064"/>
          </a:xfrm>
          <a:prstGeom prst="rect">
            <a:avLst/>
          </a:prstGeom>
        </p:spPr>
      </p:pic>
      <p:pic>
        <p:nvPicPr>
          <p:cNvPr id="22" name="Image 7" descr="/home/claude/build/img/logo-path.png"/>
          <p:cNvPicPr>
            <a:picLocks noChangeAspect="1"/>
          </p:cNvPicPr>
          <p:nvPr/>
        </p:nvPicPr>
        <p:blipFill>
          <a:blip r:embed="rId4"/>
          <a:stretch>
            <a:fillRect/>
          </a:stretch>
        </p:blipFill>
        <p:spPr>
          <a:xfrm>
            <a:off x="7333488" y="4114800"/>
            <a:ext cx="365760" cy="365760"/>
          </a:xfrm>
          <a:prstGeom prst="rect">
            <a:avLst/>
          </a:prstGeom>
        </p:spPr>
      </p:pic>
      <p:pic>
        <p:nvPicPr>
          <p:cNvPr id="23" name="Image 8" descr="/home/claude/build/img/logo-path.png"/>
          <p:cNvPicPr>
            <a:picLocks noChangeAspect="1"/>
          </p:cNvPicPr>
          <p:nvPr/>
        </p:nvPicPr>
        <p:blipFill>
          <a:blip r:embed="rId4"/>
          <a:stretch>
            <a:fillRect/>
          </a:stretch>
        </p:blipFill>
        <p:spPr>
          <a:xfrm>
            <a:off x="8046720" y="4178808"/>
            <a:ext cx="237744" cy="237744"/>
          </a:xfrm>
          <a:prstGeom prst="rect">
            <a:avLst/>
          </a:prstGeom>
        </p:spPr>
      </p:pic>
      <p:pic>
        <p:nvPicPr>
          <p:cNvPr id="24" name="Image 9" descr="/home/claude/build/img/logo-path.png"/>
          <p:cNvPicPr>
            <a:picLocks noChangeAspect="1"/>
          </p:cNvPicPr>
          <p:nvPr/>
        </p:nvPicPr>
        <p:blipFill>
          <a:blip r:embed="rId4"/>
          <a:stretch>
            <a:fillRect/>
          </a:stretch>
        </p:blipFill>
        <p:spPr>
          <a:xfrm>
            <a:off x="8759952" y="4219956"/>
            <a:ext cx="155448" cy="155448"/>
          </a:xfrm>
          <a:prstGeom prst="rect">
            <a:avLst/>
          </a:prstGeom>
        </p:spPr>
      </p:pic>
      <p:sp>
        <p:nvSpPr>
          <p:cNvPr id="25" name="Shape 13"/>
          <p:cNvSpPr/>
          <p:nvPr/>
        </p:nvSpPr>
        <p:spPr>
          <a:xfrm>
            <a:off x="6620256" y="4754880"/>
            <a:ext cx="4572000" cy="914400"/>
          </a:xfrm>
          <a:prstGeom prst="roundRect">
            <a:avLst>
              <a:gd name="adj" fmla="val 7000"/>
            </a:avLst>
          </a:prstGeom>
          <a:solidFill>
            <a:srgbClr val="F2F8E9"/>
          </a:solidFill>
          <a:ln w="12700">
            <a:solidFill>
              <a:srgbClr val="D8E7C4"/>
            </a:solidFill>
            <a:prstDash val="solid"/>
          </a:ln>
        </p:spPr>
        <p:txBody>
          <a:bodyPr/>
          <a:lstStyle/>
          <a:p>
            <a:endParaRPr lang="en-US"/>
          </a:p>
        </p:txBody>
      </p:sp>
      <p:sp>
        <p:nvSpPr>
          <p:cNvPr id="26" name="Text 14"/>
          <p:cNvSpPr txBox="1"/>
          <p:nvPr/>
        </p:nvSpPr>
        <p:spPr>
          <a:xfrm>
            <a:off x="6784848" y="4864608"/>
            <a:ext cx="4251960" cy="713232"/>
          </a:xfrm>
          <a:prstGeom prst="rect">
            <a:avLst/>
          </a:prstGeom>
          <a:noFill/>
          <a:ln/>
        </p:spPr>
        <p:txBody>
          <a:bodyPr wrap="square" lIns="0" tIns="0" rIns="0" bIns="0" rtlCol="0" anchor="ctr"/>
          <a:lstStyle/>
          <a:p>
            <a:pPr marL="0" indent="0">
              <a:lnSpc>
                <a:spcPct val="120000"/>
              </a:lnSpc>
              <a:buNone/>
            </a:pPr>
            <a:r>
              <a:rPr lang="en-US" sz="1200" b="1" dirty="0">
                <a:solidFill>
                  <a:srgbClr val="1B2A18"/>
                </a:solidFill>
                <a:latin typeface="Calibri" pitchFamily="34" charset="0"/>
                <a:ea typeface="Calibri" pitchFamily="34" charset="-122"/>
                <a:cs typeface="Calibri" pitchFamily="34" charset="-120"/>
              </a:rPr>
              <a:t>Trade-off:  </a:t>
            </a:r>
            <a:r>
              <a:rPr lang="en-US" sz="1200" dirty="0">
                <a:solidFill>
                  <a:srgbClr val="5B6B57"/>
                </a:solidFill>
                <a:latin typeface="Calibri" pitchFamily="34" charset="0"/>
                <a:ea typeface="Calibri" pitchFamily="34" charset="-122"/>
                <a:cs typeface="Calibri" pitchFamily="34" charset="-120"/>
              </a:rPr>
              <a:t>The most graceful and the closest in feeling to today's brand. The least specific about the business.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10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All six, reversed on dark</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C7E89A"/>
                </a:solidFill>
                <a:latin typeface="Calibri" pitchFamily="34" charset="0"/>
                <a:ea typeface="Calibri" pitchFamily="34" charset="-122"/>
                <a:cs typeface="Calibri" pitchFamily="34" charset="-120"/>
              </a:rPr>
              <a:t>Every mark must hold up white-on-green and green-on-dark. This is where weak marks fail.</a:t>
            </a:r>
            <a:endParaRPr lang="en-US" sz="1500" dirty="0"/>
          </a:p>
        </p:txBody>
      </p:sp>
      <p:sp>
        <p:nvSpPr>
          <p:cNvPr id="4" name="Shape 2"/>
          <p:cNvSpPr/>
          <p:nvPr/>
        </p:nvSpPr>
        <p:spPr>
          <a:xfrm>
            <a:off x="566928" y="1874520"/>
            <a:ext cx="1691640" cy="1691640"/>
          </a:xfrm>
          <a:prstGeom prst="roundRect">
            <a:avLst>
              <a:gd name="adj" fmla="val 6486"/>
            </a:avLst>
          </a:prstGeom>
          <a:solidFill>
            <a:srgbClr val="1E3018"/>
          </a:solidFill>
          <a:ln w="12700">
            <a:solidFill>
              <a:srgbClr val="2E4726"/>
            </a:solidFill>
            <a:prstDash val="solid"/>
          </a:ln>
        </p:spPr>
        <p:txBody>
          <a:bodyPr/>
          <a:lstStyle/>
          <a:p>
            <a:endParaRPr lang="en-US"/>
          </a:p>
        </p:txBody>
      </p:sp>
      <p:pic>
        <p:nvPicPr>
          <p:cNvPr id="5" name="Image 0" descr="/home/claude/build/img/logo-scroll-rev.png"/>
          <p:cNvPicPr>
            <a:picLocks noChangeAspect="1"/>
          </p:cNvPicPr>
          <p:nvPr/>
        </p:nvPicPr>
        <p:blipFill>
          <a:blip r:embed="rId3"/>
          <a:stretch>
            <a:fillRect/>
          </a:stretch>
        </p:blipFill>
        <p:spPr>
          <a:xfrm>
            <a:off x="822960" y="2130552"/>
            <a:ext cx="1188720" cy="1188720"/>
          </a:xfrm>
          <a:prstGeom prst="rect">
            <a:avLst/>
          </a:prstGeom>
        </p:spPr>
      </p:pic>
      <p:sp>
        <p:nvSpPr>
          <p:cNvPr id="6" name="Text 3"/>
          <p:cNvSpPr txBox="1"/>
          <p:nvPr/>
        </p:nvSpPr>
        <p:spPr>
          <a:xfrm>
            <a:off x="566928" y="3675888"/>
            <a:ext cx="1691640" cy="274320"/>
          </a:xfrm>
          <a:prstGeom prst="rect">
            <a:avLst/>
          </a:prstGeom>
          <a:noFill/>
          <a:ln/>
        </p:spPr>
        <p:txBody>
          <a:bodyPr wrap="square" lIns="0" tIns="0" rIns="0" bIns="0" rtlCol="0" anchor="ctr"/>
          <a:lstStyle/>
          <a:p>
            <a:pPr marL="0" indent="0" algn="ctr">
              <a:buNone/>
            </a:pPr>
            <a:r>
              <a:rPr lang="en-US" sz="1150" b="1" dirty="0">
                <a:solidFill>
                  <a:srgbClr val="C7E89A"/>
                </a:solidFill>
                <a:latin typeface="Calibri" pitchFamily="34" charset="0"/>
                <a:ea typeface="Calibri" pitchFamily="34" charset="-122"/>
                <a:cs typeface="Calibri" pitchFamily="34" charset="-120"/>
              </a:rPr>
              <a:t>01 The Ring</a:t>
            </a:r>
            <a:endParaRPr lang="en-US" sz="1150" dirty="0"/>
          </a:p>
        </p:txBody>
      </p:sp>
      <p:sp>
        <p:nvSpPr>
          <p:cNvPr id="7" name="Shape 4"/>
          <p:cNvSpPr/>
          <p:nvPr/>
        </p:nvSpPr>
        <p:spPr>
          <a:xfrm>
            <a:off x="2450592" y="1874520"/>
            <a:ext cx="1691640" cy="1691640"/>
          </a:xfrm>
          <a:prstGeom prst="roundRect">
            <a:avLst>
              <a:gd name="adj" fmla="val 6486"/>
            </a:avLst>
          </a:prstGeom>
          <a:solidFill>
            <a:srgbClr val="1E3018"/>
          </a:solidFill>
          <a:ln w="12700">
            <a:solidFill>
              <a:srgbClr val="2E4726"/>
            </a:solidFill>
            <a:prstDash val="solid"/>
          </a:ln>
        </p:spPr>
        <p:txBody>
          <a:bodyPr/>
          <a:lstStyle/>
          <a:p>
            <a:endParaRPr lang="en-US"/>
          </a:p>
        </p:txBody>
      </p:sp>
      <p:pic>
        <p:nvPicPr>
          <p:cNvPr id="8" name="Image 1" descr="/home/claude/build/img/logo-coil-rev.png"/>
          <p:cNvPicPr>
            <a:picLocks noChangeAspect="1"/>
          </p:cNvPicPr>
          <p:nvPr/>
        </p:nvPicPr>
        <p:blipFill>
          <a:blip r:embed="rId4"/>
          <a:stretch>
            <a:fillRect/>
          </a:stretch>
        </p:blipFill>
        <p:spPr>
          <a:xfrm>
            <a:off x="2706624" y="2130552"/>
            <a:ext cx="1188720" cy="1188720"/>
          </a:xfrm>
          <a:prstGeom prst="rect">
            <a:avLst/>
          </a:prstGeom>
        </p:spPr>
      </p:pic>
      <p:sp>
        <p:nvSpPr>
          <p:cNvPr id="9" name="Text 5"/>
          <p:cNvSpPr txBox="1"/>
          <p:nvPr/>
        </p:nvSpPr>
        <p:spPr>
          <a:xfrm>
            <a:off x="2450592" y="3675888"/>
            <a:ext cx="1691640" cy="274320"/>
          </a:xfrm>
          <a:prstGeom prst="rect">
            <a:avLst/>
          </a:prstGeom>
          <a:noFill/>
          <a:ln/>
        </p:spPr>
        <p:txBody>
          <a:bodyPr wrap="square" lIns="0" tIns="0" rIns="0" bIns="0" rtlCol="0" anchor="ctr"/>
          <a:lstStyle/>
          <a:p>
            <a:pPr marL="0" indent="0" algn="ctr">
              <a:buNone/>
            </a:pPr>
            <a:r>
              <a:rPr lang="en-US" sz="1150" b="1" dirty="0">
                <a:solidFill>
                  <a:srgbClr val="C7E89A"/>
                </a:solidFill>
                <a:latin typeface="Calibri" pitchFamily="34" charset="0"/>
                <a:ea typeface="Calibri" pitchFamily="34" charset="-122"/>
                <a:cs typeface="Calibri" pitchFamily="34" charset="-120"/>
              </a:rPr>
              <a:t>02 The Gimel</a:t>
            </a:r>
            <a:endParaRPr lang="en-US" sz="1150" dirty="0"/>
          </a:p>
        </p:txBody>
      </p:sp>
      <p:sp>
        <p:nvSpPr>
          <p:cNvPr id="10" name="Shape 6"/>
          <p:cNvSpPr/>
          <p:nvPr/>
        </p:nvSpPr>
        <p:spPr>
          <a:xfrm>
            <a:off x="4334256" y="1874520"/>
            <a:ext cx="1691640" cy="1691640"/>
          </a:xfrm>
          <a:prstGeom prst="roundRect">
            <a:avLst>
              <a:gd name="adj" fmla="val 6486"/>
            </a:avLst>
          </a:prstGeom>
          <a:solidFill>
            <a:srgbClr val="1E3018"/>
          </a:solidFill>
          <a:ln w="12700">
            <a:solidFill>
              <a:srgbClr val="2E4726"/>
            </a:solidFill>
            <a:prstDash val="solid"/>
          </a:ln>
        </p:spPr>
        <p:txBody>
          <a:bodyPr/>
          <a:lstStyle/>
          <a:p>
            <a:endParaRPr lang="en-US"/>
          </a:p>
        </p:txBody>
      </p:sp>
      <p:pic>
        <p:nvPicPr>
          <p:cNvPr id="11" name="Image 2" descr="/home/claude/build/img/logo-aperture-rev.png"/>
          <p:cNvPicPr>
            <a:picLocks noChangeAspect="1"/>
          </p:cNvPicPr>
          <p:nvPr/>
        </p:nvPicPr>
        <p:blipFill>
          <a:blip r:embed="rId5"/>
          <a:stretch>
            <a:fillRect/>
          </a:stretch>
        </p:blipFill>
        <p:spPr>
          <a:xfrm>
            <a:off x="4590288" y="2130552"/>
            <a:ext cx="1188720" cy="1188720"/>
          </a:xfrm>
          <a:prstGeom prst="rect">
            <a:avLst/>
          </a:prstGeom>
        </p:spPr>
      </p:pic>
      <p:sp>
        <p:nvSpPr>
          <p:cNvPr id="12" name="Text 7"/>
          <p:cNvSpPr txBox="1"/>
          <p:nvPr/>
        </p:nvSpPr>
        <p:spPr>
          <a:xfrm>
            <a:off x="4334256" y="3675888"/>
            <a:ext cx="1691640" cy="274320"/>
          </a:xfrm>
          <a:prstGeom prst="rect">
            <a:avLst/>
          </a:prstGeom>
          <a:noFill/>
          <a:ln/>
        </p:spPr>
        <p:txBody>
          <a:bodyPr wrap="square" lIns="0" tIns="0" rIns="0" bIns="0" rtlCol="0" anchor="ctr"/>
          <a:lstStyle/>
          <a:p>
            <a:pPr marL="0" indent="0" algn="ctr">
              <a:buNone/>
            </a:pPr>
            <a:r>
              <a:rPr lang="en-US" sz="1150" b="1" dirty="0">
                <a:solidFill>
                  <a:srgbClr val="C7E89A"/>
                </a:solidFill>
                <a:latin typeface="Calibri" pitchFamily="34" charset="0"/>
                <a:ea typeface="Calibri" pitchFamily="34" charset="-122"/>
                <a:cs typeface="Calibri" pitchFamily="34" charset="-120"/>
              </a:rPr>
              <a:t>03 The Cycle</a:t>
            </a:r>
            <a:endParaRPr lang="en-US" sz="1150" dirty="0"/>
          </a:p>
        </p:txBody>
      </p:sp>
      <p:sp>
        <p:nvSpPr>
          <p:cNvPr id="13" name="Shape 8"/>
          <p:cNvSpPr/>
          <p:nvPr/>
        </p:nvSpPr>
        <p:spPr>
          <a:xfrm>
            <a:off x="6217920" y="1874520"/>
            <a:ext cx="1691640" cy="1691640"/>
          </a:xfrm>
          <a:prstGeom prst="roundRect">
            <a:avLst>
              <a:gd name="adj" fmla="val 6486"/>
            </a:avLst>
          </a:prstGeom>
          <a:solidFill>
            <a:srgbClr val="1E3018"/>
          </a:solidFill>
          <a:ln w="12700">
            <a:solidFill>
              <a:srgbClr val="2E4726"/>
            </a:solidFill>
            <a:prstDash val="solid"/>
          </a:ln>
        </p:spPr>
        <p:txBody>
          <a:bodyPr/>
          <a:lstStyle/>
          <a:p>
            <a:endParaRPr lang="en-US"/>
          </a:p>
        </p:txBody>
      </p:sp>
      <p:pic>
        <p:nvPicPr>
          <p:cNvPr id="14" name="Image 3" descr="/home/claude/build/img/logo-bracket-rev.png"/>
          <p:cNvPicPr>
            <a:picLocks noChangeAspect="1"/>
          </p:cNvPicPr>
          <p:nvPr/>
        </p:nvPicPr>
        <p:blipFill>
          <a:blip r:embed="rId6"/>
          <a:stretch>
            <a:fillRect/>
          </a:stretch>
        </p:blipFill>
        <p:spPr>
          <a:xfrm>
            <a:off x="6473952" y="2130552"/>
            <a:ext cx="1188720" cy="1188720"/>
          </a:xfrm>
          <a:prstGeom prst="rect">
            <a:avLst/>
          </a:prstGeom>
        </p:spPr>
      </p:pic>
      <p:sp>
        <p:nvSpPr>
          <p:cNvPr id="15" name="Text 9"/>
          <p:cNvSpPr txBox="1"/>
          <p:nvPr/>
        </p:nvSpPr>
        <p:spPr>
          <a:xfrm>
            <a:off x="6217920" y="3675888"/>
            <a:ext cx="1691640" cy="274320"/>
          </a:xfrm>
          <a:prstGeom prst="rect">
            <a:avLst/>
          </a:prstGeom>
          <a:noFill/>
          <a:ln/>
        </p:spPr>
        <p:txBody>
          <a:bodyPr wrap="square" lIns="0" tIns="0" rIns="0" bIns="0" rtlCol="0" anchor="ctr"/>
          <a:lstStyle/>
          <a:p>
            <a:pPr marL="0" indent="0" algn="ctr">
              <a:buNone/>
            </a:pPr>
            <a:r>
              <a:rPr lang="en-US" sz="1150" b="1" dirty="0">
                <a:solidFill>
                  <a:srgbClr val="C7E89A"/>
                </a:solidFill>
                <a:latin typeface="Calibri" pitchFamily="34" charset="0"/>
                <a:ea typeface="Calibri" pitchFamily="34" charset="-122"/>
                <a:cs typeface="Calibri" pitchFamily="34" charset="-120"/>
              </a:rPr>
              <a:t>04 The Bracket</a:t>
            </a:r>
            <a:endParaRPr lang="en-US" sz="1150" dirty="0"/>
          </a:p>
        </p:txBody>
      </p:sp>
      <p:sp>
        <p:nvSpPr>
          <p:cNvPr id="16" name="Shape 10"/>
          <p:cNvSpPr/>
          <p:nvPr/>
        </p:nvSpPr>
        <p:spPr>
          <a:xfrm>
            <a:off x="8101584" y="1874520"/>
            <a:ext cx="1691640" cy="1691640"/>
          </a:xfrm>
          <a:prstGeom prst="roundRect">
            <a:avLst>
              <a:gd name="adj" fmla="val 6486"/>
            </a:avLst>
          </a:prstGeom>
          <a:solidFill>
            <a:srgbClr val="1E3018"/>
          </a:solidFill>
          <a:ln w="12700">
            <a:solidFill>
              <a:srgbClr val="2E4726"/>
            </a:solidFill>
            <a:prstDash val="solid"/>
          </a:ln>
        </p:spPr>
        <p:txBody>
          <a:bodyPr/>
          <a:lstStyle/>
          <a:p>
            <a:endParaRPr lang="en-US"/>
          </a:p>
        </p:txBody>
      </p:sp>
      <p:pic>
        <p:nvPicPr>
          <p:cNvPr id="17" name="Image 4" descr="/home/claude/build/img/logo-layers-rev.png"/>
          <p:cNvPicPr>
            <a:picLocks noChangeAspect="1"/>
          </p:cNvPicPr>
          <p:nvPr/>
        </p:nvPicPr>
        <p:blipFill>
          <a:blip r:embed="rId7"/>
          <a:stretch>
            <a:fillRect/>
          </a:stretch>
        </p:blipFill>
        <p:spPr>
          <a:xfrm>
            <a:off x="8357616" y="2130552"/>
            <a:ext cx="1188720" cy="1188720"/>
          </a:xfrm>
          <a:prstGeom prst="rect">
            <a:avLst/>
          </a:prstGeom>
        </p:spPr>
      </p:pic>
      <p:sp>
        <p:nvSpPr>
          <p:cNvPr id="18" name="Text 11"/>
          <p:cNvSpPr txBox="1"/>
          <p:nvPr/>
        </p:nvSpPr>
        <p:spPr>
          <a:xfrm>
            <a:off x="8101584" y="3675888"/>
            <a:ext cx="1691640" cy="274320"/>
          </a:xfrm>
          <a:prstGeom prst="rect">
            <a:avLst/>
          </a:prstGeom>
          <a:noFill/>
          <a:ln/>
        </p:spPr>
        <p:txBody>
          <a:bodyPr wrap="square" lIns="0" tIns="0" rIns="0" bIns="0" rtlCol="0" anchor="ctr"/>
          <a:lstStyle/>
          <a:p>
            <a:pPr marL="0" indent="0" algn="ctr">
              <a:buNone/>
            </a:pPr>
            <a:r>
              <a:rPr lang="en-US" sz="1150" b="1" dirty="0">
                <a:solidFill>
                  <a:srgbClr val="C7E89A"/>
                </a:solidFill>
                <a:latin typeface="Calibri" pitchFamily="34" charset="0"/>
                <a:ea typeface="Calibri" pitchFamily="34" charset="-122"/>
                <a:cs typeface="Calibri" pitchFamily="34" charset="-120"/>
              </a:rPr>
              <a:t>05 The Sheet</a:t>
            </a:r>
            <a:endParaRPr lang="en-US" sz="1150" dirty="0"/>
          </a:p>
        </p:txBody>
      </p:sp>
      <p:sp>
        <p:nvSpPr>
          <p:cNvPr id="19" name="Shape 12"/>
          <p:cNvSpPr/>
          <p:nvPr/>
        </p:nvSpPr>
        <p:spPr>
          <a:xfrm>
            <a:off x="9985248" y="1874520"/>
            <a:ext cx="1691640" cy="1691640"/>
          </a:xfrm>
          <a:prstGeom prst="roundRect">
            <a:avLst>
              <a:gd name="adj" fmla="val 6486"/>
            </a:avLst>
          </a:prstGeom>
          <a:solidFill>
            <a:srgbClr val="1E3018"/>
          </a:solidFill>
          <a:ln w="12700">
            <a:solidFill>
              <a:srgbClr val="2E4726"/>
            </a:solidFill>
            <a:prstDash val="solid"/>
          </a:ln>
        </p:spPr>
        <p:txBody>
          <a:bodyPr/>
          <a:lstStyle/>
          <a:p>
            <a:endParaRPr lang="en-US"/>
          </a:p>
        </p:txBody>
      </p:sp>
      <p:pic>
        <p:nvPicPr>
          <p:cNvPr id="20" name="Image 5" descr="/home/claude/build/img/logo-path-rev.png"/>
          <p:cNvPicPr>
            <a:picLocks noChangeAspect="1"/>
          </p:cNvPicPr>
          <p:nvPr/>
        </p:nvPicPr>
        <p:blipFill>
          <a:blip r:embed="rId8"/>
          <a:stretch>
            <a:fillRect/>
          </a:stretch>
        </p:blipFill>
        <p:spPr>
          <a:xfrm>
            <a:off x="10241280" y="2130552"/>
            <a:ext cx="1188720" cy="1188720"/>
          </a:xfrm>
          <a:prstGeom prst="rect">
            <a:avLst/>
          </a:prstGeom>
        </p:spPr>
      </p:pic>
      <p:sp>
        <p:nvSpPr>
          <p:cNvPr id="21" name="Text 13"/>
          <p:cNvSpPr txBox="1"/>
          <p:nvPr/>
        </p:nvSpPr>
        <p:spPr>
          <a:xfrm>
            <a:off x="9985248" y="3675888"/>
            <a:ext cx="1691640" cy="274320"/>
          </a:xfrm>
          <a:prstGeom prst="rect">
            <a:avLst/>
          </a:prstGeom>
          <a:noFill/>
          <a:ln/>
        </p:spPr>
        <p:txBody>
          <a:bodyPr wrap="square" lIns="0" tIns="0" rIns="0" bIns="0" rtlCol="0" anchor="ctr"/>
          <a:lstStyle/>
          <a:p>
            <a:pPr marL="0" indent="0" algn="ctr">
              <a:buNone/>
            </a:pPr>
            <a:r>
              <a:rPr lang="en-US" sz="1150" b="1" dirty="0">
                <a:solidFill>
                  <a:srgbClr val="C7E89A"/>
                </a:solidFill>
                <a:latin typeface="Calibri" pitchFamily="34" charset="0"/>
                <a:ea typeface="Calibri" pitchFamily="34" charset="-122"/>
                <a:cs typeface="Calibri" pitchFamily="34" charset="-120"/>
              </a:rPr>
              <a:t>06 The Leaf</a:t>
            </a:r>
            <a:endParaRPr lang="en-US" sz="1150" dirty="0"/>
          </a:p>
        </p:txBody>
      </p:sp>
      <p:sp>
        <p:nvSpPr>
          <p:cNvPr id="22" name="Text 14"/>
          <p:cNvSpPr txBox="1"/>
          <p:nvPr/>
        </p:nvSpPr>
        <p:spPr>
          <a:xfrm>
            <a:off x="566928" y="4315968"/>
            <a:ext cx="3474720" cy="292608"/>
          </a:xfrm>
          <a:prstGeom prst="rect">
            <a:avLst/>
          </a:prstGeom>
          <a:noFill/>
          <a:ln/>
        </p:spPr>
        <p:txBody>
          <a:bodyPr wrap="square" lIns="0" tIns="0" rIns="0" bIns="0" rtlCol="0" anchor="ctr"/>
          <a:lstStyle/>
          <a:p>
            <a:pPr marL="0" indent="0">
              <a:buNone/>
            </a:pPr>
            <a:r>
              <a:rPr lang="en-US" sz="1300" dirty="0">
                <a:solidFill>
                  <a:srgbClr val="9FB394"/>
                </a:solidFill>
                <a:latin typeface="Calibri" pitchFamily="34" charset="0"/>
                <a:ea typeface="Calibri" pitchFamily="34" charset="-122"/>
                <a:cs typeface="Calibri" pitchFamily="34" charset="-120"/>
              </a:rPr>
              <a:t>Reproduces best below 24 px</a:t>
            </a:r>
            <a:endParaRPr lang="en-US" sz="1300" dirty="0"/>
          </a:p>
        </p:txBody>
      </p:sp>
      <p:sp>
        <p:nvSpPr>
          <p:cNvPr id="23" name="Text 15"/>
          <p:cNvSpPr txBox="1"/>
          <p:nvPr/>
        </p:nvSpPr>
        <p:spPr>
          <a:xfrm>
            <a:off x="4087368" y="4315968"/>
            <a:ext cx="2011680" cy="292608"/>
          </a:xfrm>
          <a:prstGeom prst="rect">
            <a:avLst/>
          </a:prstGeom>
          <a:noFill/>
          <a:ln/>
        </p:spPr>
        <p:txBody>
          <a:bodyPr wrap="square" lIns="0" tIns="0" rIns="0" bIns="0" rtlCol="0" anchor="ctr"/>
          <a:lstStyle/>
          <a:p>
            <a:pPr marL="0" indent="0">
              <a:buNone/>
            </a:pPr>
            <a:r>
              <a:rPr lang="en-US" sz="1300" b="1" dirty="0">
                <a:solidFill>
                  <a:srgbClr val="8CC63E"/>
                </a:solidFill>
                <a:latin typeface="Calibri" pitchFamily="34" charset="0"/>
                <a:ea typeface="Calibri" pitchFamily="34" charset="-122"/>
                <a:cs typeface="Calibri" pitchFamily="34" charset="-120"/>
              </a:rPr>
              <a:t>01 Ring, 04 Bracket</a:t>
            </a:r>
            <a:endParaRPr lang="en-US" sz="1300" dirty="0"/>
          </a:p>
        </p:txBody>
      </p:sp>
      <p:sp>
        <p:nvSpPr>
          <p:cNvPr id="24" name="Text 16"/>
          <p:cNvSpPr txBox="1"/>
          <p:nvPr/>
        </p:nvSpPr>
        <p:spPr>
          <a:xfrm>
            <a:off x="6236208" y="4315968"/>
            <a:ext cx="3474720" cy="292608"/>
          </a:xfrm>
          <a:prstGeom prst="rect">
            <a:avLst/>
          </a:prstGeom>
          <a:noFill/>
          <a:ln/>
        </p:spPr>
        <p:txBody>
          <a:bodyPr wrap="square" lIns="0" tIns="0" rIns="0" bIns="0" rtlCol="0" anchor="ctr"/>
          <a:lstStyle/>
          <a:p>
            <a:pPr marL="0" indent="0">
              <a:buNone/>
            </a:pPr>
            <a:r>
              <a:rPr lang="en-US" sz="1300" dirty="0">
                <a:solidFill>
                  <a:srgbClr val="9FB394"/>
                </a:solidFill>
                <a:latin typeface="Calibri" pitchFamily="34" charset="0"/>
                <a:ea typeface="Calibri" pitchFamily="34" charset="-122"/>
                <a:cs typeface="Calibri" pitchFamily="34" charset="-120"/>
              </a:rPr>
              <a:t>Most distinctly GALIL</a:t>
            </a:r>
            <a:endParaRPr lang="en-US" sz="1300" dirty="0"/>
          </a:p>
        </p:txBody>
      </p:sp>
      <p:sp>
        <p:nvSpPr>
          <p:cNvPr id="25" name="Text 17"/>
          <p:cNvSpPr txBox="1"/>
          <p:nvPr/>
        </p:nvSpPr>
        <p:spPr>
          <a:xfrm>
            <a:off x="9756648" y="4315968"/>
            <a:ext cx="2011680" cy="292608"/>
          </a:xfrm>
          <a:prstGeom prst="rect">
            <a:avLst/>
          </a:prstGeom>
          <a:noFill/>
          <a:ln/>
        </p:spPr>
        <p:txBody>
          <a:bodyPr wrap="square" lIns="0" tIns="0" rIns="0" bIns="0" rtlCol="0" anchor="ctr"/>
          <a:lstStyle/>
          <a:p>
            <a:pPr marL="0" indent="0">
              <a:buNone/>
            </a:pPr>
            <a:r>
              <a:rPr lang="en-US" sz="1300" b="1" dirty="0">
                <a:solidFill>
                  <a:srgbClr val="8CC63E"/>
                </a:solidFill>
                <a:latin typeface="Calibri" pitchFamily="34" charset="0"/>
                <a:ea typeface="Calibri" pitchFamily="34" charset="-122"/>
                <a:cs typeface="Calibri" pitchFamily="34" charset="-120"/>
              </a:rPr>
              <a:t>02 Gimel, 06 Leaf</a:t>
            </a:r>
            <a:endParaRPr lang="en-US" sz="1300" dirty="0"/>
          </a:p>
        </p:txBody>
      </p:sp>
      <p:sp>
        <p:nvSpPr>
          <p:cNvPr id="26" name="Text 18"/>
          <p:cNvSpPr txBox="1"/>
          <p:nvPr/>
        </p:nvSpPr>
        <p:spPr>
          <a:xfrm>
            <a:off x="566928" y="5029200"/>
            <a:ext cx="3474720" cy="292608"/>
          </a:xfrm>
          <a:prstGeom prst="rect">
            <a:avLst/>
          </a:prstGeom>
          <a:noFill/>
          <a:ln/>
        </p:spPr>
        <p:txBody>
          <a:bodyPr wrap="square" lIns="0" tIns="0" rIns="0" bIns="0" rtlCol="0" anchor="ctr"/>
          <a:lstStyle/>
          <a:p>
            <a:pPr marL="0" indent="0">
              <a:buNone/>
            </a:pPr>
            <a:r>
              <a:rPr lang="en-US" sz="1300" dirty="0">
                <a:solidFill>
                  <a:srgbClr val="9FB394"/>
                </a:solidFill>
                <a:latin typeface="Calibri" pitchFamily="34" charset="0"/>
                <a:ea typeface="Calibri" pitchFamily="34" charset="-122"/>
                <a:cs typeface="Calibri" pitchFamily="34" charset="-120"/>
              </a:rPr>
              <a:t>Says most clearly what we do</a:t>
            </a:r>
            <a:endParaRPr lang="en-US" sz="1300" dirty="0"/>
          </a:p>
        </p:txBody>
      </p:sp>
      <p:sp>
        <p:nvSpPr>
          <p:cNvPr id="27" name="Text 19"/>
          <p:cNvSpPr txBox="1"/>
          <p:nvPr/>
        </p:nvSpPr>
        <p:spPr>
          <a:xfrm>
            <a:off x="4087368" y="5029200"/>
            <a:ext cx="2011680" cy="292608"/>
          </a:xfrm>
          <a:prstGeom prst="rect">
            <a:avLst/>
          </a:prstGeom>
          <a:noFill/>
          <a:ln/>
        </p:spPr>
        <p:txBody>
          <a:bodyPr wrap="square" lIns="0" tIns="0" rIns="0" bIns="0" rtlCol="0" anchor="ctr"/>
          <a:lstStyle/>
          <a:p>
            <a:pPr marL="0" indent="0">
              <a:buNone/>
            </a:pPr>
            <a:r>
              <a:rPr lang="en-US" sz="1300" b="1" dirty="0">
                <a:solidFill>
                  <a:srgbClr val="8CC63E"/>
                </a:solidFill>
                <a:latin typeface="Calibri" pitchFamily="34" charset="0"/>
                <a:ea typeface="Calibri" pitchFamily="34" charset="-122"/>
                <a:cs typeface="Calibri" pitchFamily="34" charset="-120"/>
              </a:rPr>
              <a:t>04 Bracket, 05 Sheet</a:t>
            </a:r>
            <a:endParaRPr lang="en-US" sz="1300" dirty="0"/>
          </a:p>
        </p:txBody>
      </p:sp>
      <p:sp>
        <p:nvSpPr>
          <p:cNvPr id="28" name="Text 20"/>
          <p:cNvSpPr txBox="1"/>
          <p:nvPr/>
        </p:nvSpPr>
        <p:spPr>
          <a:xfrm>
            <a:off x="6236208" y="5029200"/>
            <a:ext cx="3474720" cy="292608"/>
          </a:xfrm>
          <a:prstGeom prst="rect">
            <a:avLst/>
          </a:prstGeom>
          <a:noFill/>
          <a:ln/>
        </p:spPr>
        <p:txBody>
          <a:bodyPr wrap="square" lIns="0" tIns="0" rIns="0" bIns="0" rtlCol="0" anchor="ctr"/>
          <a:lstStyle/>
          <a:p>
            <a:pPr marL="0" indent="0">
              <a:buNone/>
            </a:pPr>
            <a:r>
              <a:rPr lang="en-US" sz="1300" dirty="0">
                <a:solidFill>
                  <a:srgbClr val="9FB394"/>
                </a:solidFill>
                <a:latin typeface="Calibri" pitchFamily="34" charset="0"/>
                <a:ea typeface="Calibri" pitchFamily="34" charset="-122"/>
                <a:cs typeface="Calibri" pitchFamily="34" charset="-120"/>
              </a:rPr>
              <a:t>Most defensible over ten years</a:t>
            </a:r>
            <a:endParaRPr lang="en-US" sz="1300" dirty="0"/>
          </a:p>
        </p:txBody>
      </p:sp>
      <p:sp>
        <p:nvSpPr>
          <p:cNvPr id="29" name="Text 21"/>
          <p:cNvSpPr txBox="1"/>
          <p:nvPr/>
        </p:nvSpPr>
        <p:spPr>
          <a:xfrm>
            <a:off x="9756648" y="5029200"/>
            <a:ext cx="2011680" cy="292608"/>
          </a:xfrm>
          <a:prstGeom prst="rect">
            <a:avLst/>
          </a:prstGeom>
          <a:noFill/>
          <a:ln/>
        </p:spPr>
        <p:txBody>
          <a:bodyPr wrap="square" lIns="0" tIns="0" rIns="0" bIns="0" rtlCol="0" anchor="ctr"/>
          <a:lstStyle/>
          <a:p>
            <a:pPr marL="0" indent="0">
              <a:buNone/>
            </a:pPr>
            <a:r>
              <a:rPr lang="en-US" sz="1300" b="1" dirty="0">
                <a:solidFill>
                  <a:srgbClr val="8CC63E"/>
                </a:solidFill>
                <a:latin typeface="Calibri" pitchFamily="34" charset="0"/>
                <a:ea typeface="Calibri" pitchFamily="34" charset="-122"/>
                <a:cs typeface="Calibri" pitchFamily="34" charset="-120"/>
              </a:rPr>
              <a:t>01 Ring, 04 Bracket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Wordmark lockups</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Shown with direction 04. The same three constructions apply to whichever mark is chosen.</a:t>
            </a:r>
            <a:endParaRPr lang="en-US" sz="1500" dirty="0"/>
          </a:p>
        </p:txBody>
      </p:sp>
      <p:sp>
        <p:nvSpPr>
          <p:cNvPr id="4" name="Shape 2"/>
          <p:cNvSpPr/>
          <p:nvPr/>
        </p:nvSpPr>
        <p:spPr>
          <a:xfrm>
            <a:off x="566928" y="1627632"/>
            <a:ext cx="11027664" cy="1371600"/>
          </a:xfrm>
          <a:prstGeom prst="roundRect">
            <a:avLst>
              <a:gd name="adj" fmla="val 6000"/>
            </a:avLst>
          </a:prstGeom>
          <a:solidFill>
            <a:srgbClr val="F2F8E9"/>
          </a:solidFill>
          <a:ln w="12700">
            <a:solidFill>
              <a:srgbClr val="D8E7C4"/>
            </a:solidFill>
            <a:prstDash val="solid"/>
          </a:ln>
        </p:spPr>
        <p:txBody>
          <a:bodyPr/>
          <a:lstStyle/>
          <a:p>
            <a:endParaRPr lang="en-US"/>
          </a:p>
        </p:txBody>
      </p:sp>
      <p:pic>
        <p:nvPicPr>
          <p:cNvPr id="5" name="Image 0" descr="/home/claude/build/img/logo-bracket.png"/>
          <p:cNvPicPr>
            <a:picLocks noChangeAspect="1"/>
          </p:cNvPicPr>
          <p:nvPr/>
        </p:nvPicPr>
        <p:blipFill>
          <a:blip r:embed="rId3"/>
          <a:stretch>
            <a:fillRect/>
          </a:stretch>
        </p:blipFill>
        <p:spPr>
          <a:xfrm>
            <a:off x="950976" y="1810512"/>
            <a:ext cx="1005840" cy="1005840"/>
          </a:xfrm>
          <a:prstGeom prst="rect">
            <a:avLst/>
          </a:prstGeom>
        </p:spPr>
      </p:pic>
      <p:sp>
        <p:nvSpPr>
          <p:cNvPr id="6" name="Text 3"/>
          <p:cNvSpPr txBox="1"/>
          <p:nvPr/>
        </p:nvSpPr>
        <p:spPr>
          <a:xfrm>
            <a:off x="2139696" y="1847088"/>
            <a:ext cx="3657600" cy="566928"/>
          </a:xfrm>
          <a:prstGeom prst="rect">
            <a:avLst/>
          </a:prstGeom>
          <a:noFill/>
          <a:ln/>
        </p:spPr>
        <p:txBody>
          <a:bodyPr wrap="square" lIns="0" tIns="0" rIns="0" bIns="0" rtlCol="0" anchor="ctr"/>
          <a:lstStyle/>
          <a:p>
            <a:pPr marL="0" indent="0">
              <a:buNone/>
            </a:pPr>
            <a:r>
              <a:rPr lang="en-US" sz="4000" b="1" kern="0" spc="200" dirty="0">
                <a:solidFill>
                  <a:srgbClr val="1B2A18"/>
                </a:solidFill>
                <a:latin typeface="Calibri" pitchFamily="34" charset="0"/>
                <a:ea typeface="Calibri" pitchFamily="34" charset="-122"/>
                <a:cs typeface="Calibri" pitchFamily="34" charset="-120"/>
              </a:rPr>
              <a:t>GALIL</a:t>
            </a:r>
            <a:endParaRPr lang="en-US" sz="4000" dirty="0"/>
          </a:p>
        </p:txBody>
      </p:sp>
      <p:sp>
        <p:nvSpPr>
          <p:cNvPr id="7" name="Text 4"/>
          <p:cNvSpPr txBox="1"/>
          <p:nvPr/>
        </p:nvSpPr>
        <p:spPr>
          <a:xfrm>
            <a:off x="2194560" y="2432304"/>
            <a:ext cx="4937760" cy="292608"/>
          </a:xfrm>
          <a:prstGeom prst="rect">
            <a:avLst/>
          </a:prstGeom>
          <a:noFill/>
          <a:ln/>
        </p:spPr>
        <p:txBody>
          <a:bodyPr wrap="square" lIns="0" tIns="0" rIns="0" bIns="0" rtlCol="0" anchor="ctr"/>
          <a:lstStyle/>
          <a:p>
            <a:pPr marL="0" indent="0">
              <a:buNone/>
            </a:pPr>
            <a:r>
              <a:rPr lang="en-US" sz="1250" kern="0" spc="50" dirty="0">
                <a:solidFill>
                  <a:srgbClr val="5B6B57"/>
                </a:solidFill>
                <a:latin typeface="Calibri" pitchFamily="34" charset="0"/>
                <a:ea typeface="Calibri" pitchFamily="34" charset="-122"/>
                <a:cs typeface="Calibri" pitchFamily="34" charset="-120"/>
              </a:rPr>
              <a:t>Technical Writing  ·  Training  ·  Implementation</a:t>
            </a:r>
            <a:endParaRPr lang="en-US" sz="1250" dirty="0"/>
          </a:p>
        </p:txBody>
      </p:sp>
      <p:sp>
        <p:nvSpPr>
          <p:cNvPr id="8" name="Text 5"/>
          <p:cNvSpPr txBox="1"/>
          <p:nvPr/>
        </p:nvSpPr>
        <p:spPr>
          <a:xfrm>
            <a:off x="7680960" y="1874520"/>
            <a:ext cx="3840480" cy="292608"/>
          </a:xfrm>
          <a:prstGeom prst="rect">
            <a:avLst/>
          </a:prstGeom>
          <a:noFill/>
          <a:ln/>
        </p:spPr>
        <p:txBody>
          <a:bodyPr wrap="square" lIns="0" tIns="0" rIns="0" bIns="0" rtlCol="0" anchor="ctr"/>
          <a:lstStyle/>
          <a:p>
            <a:pPr marL="0" indent="0">
              <a:buNone/>
            </a:pPr>
            <a:r>
              <a:rPr lang="en-US" sz="1400" b="1" dirty="0">
                <a:solidFill>
                  <a:srgbClr val="4E7A1C"/>
                </a:solidFill>
                <a:latin typeface="Calibri" pitchFamily="34" charset="0"/>
                <a:ea typeface="Calibri" pitchFamily="34" charset="-122"/>
                <a:cs typeface="Calibri" pitchFamily="34" charset="-120"/>
              </a:rPr>
              <a:t>Horizontal · primary</a:t>
            </a:r>
            <a:endParaRPr lang="en-US" sz="1400" dirty="0"/>
          </a:p>
        </p:txBody>
      </p:sp>
      <p:sp>
        <p:nvSpPr>
          <p:cNvPr id="9" name="Text 6"/>
          <p:cNvSpPr txBox="1"/>
          <p:nvPr/>
        </p:nvSpPr>
        <p:spPr>
          <a:xfrm>
            <a:off x="7680960" y="2194560"/>
            <a:ext cx="3840480" cy="731520"/>
          </a:xfrm>
          <a:prstGeom prst="rect">
            <a:avLst/>
          </a:prstGeom>
          <a:noFill/>
          <a:ln/>
        </p:spPr>
        <p:txBody>
          <a:bodyPr wrap="square" lIns="0" tIns="0" rIns="0" bIns="0" rtlCol="0" anchor="ctr"/>
          <a:lstStyle/>
          <a:p>
            <a:pPr marL="0" indent="0">
              <a:lnSpc>
                <a:spcPct val="120000"/>
              </a:lnSpc>
              <a:buNone/>
            </a:pPr>
            <a:r>
              <a:rPr lang="en-US" sz="1150" dirty="0">
                <a:solidFill>
                  <a:srgbClr val="5B6B57"/>
                </a:solidFill>
                <a:latin typeface="Calibri" pitchFamily="34" charset="0"/>
                <a:ea typeface="Calibri" pitchFamily="34" charset="-122"/>
                <a:cs typeface="Calibri" pitchFamily="34" charset="-120"/>
              </a:rPr>
              <a:t>Mark left, wordmark right. Website header, letterhead, email signature, presentation title.</a:t>
            </a:r>
            <a:endParaRPr lang="en-US" sz="1150" dirty="0"/>
          </a:p>
        </p:txBody>
      </p:sp>
      <p:sp>
        <p:nvSpPr>
          <p:cNvPr id="10" name="Shape 7"/>
          <p:cNvSpPr/>
          <p:nvPr/>
        </p:nvSpPr>
        <p:spPr>
          <a:xfrm>
            <a:off x="566928" y="3145536"/>
            <a:ext cx="5486400" cy="2743200"/>
          </a:xfrm>
          <a:prstGeom prst="roundRect">
            <a:avLst>
              <a:gd name="adj" fmla="val 3000"/>
            </a:avLst>
          </a:prstGeom>
          <a:solidFill>
            <a:srgbClr val="FFFFFF"/>
          </a:solidFill>
          <a:ln w="12700">
            <a:solidFill>
              <a:srgbClr val="D8E7C4"/>
            </a:solidFill>
            <a:prstDash val="solid"/>
          </a:ln>
        </p:spPr>
        <p:txBody>
          <a:bodyPr/>
          <a:lstStyle/>
          <a:p>
            <a:endParaRPr lang="en-US"/>
          </a:p>
        </p:txBody>
      </p:sp>
      <p:pic>
        <p:nvPicPr>
          <p:cNvPr id="11" name="Image 1" descr="/home/claude/build/img/logo-bracket.png"/>
          <p:cNvPicPr>
            <a:picLocks noChangeAspect="1"/>
          </p:cNvPicPr>
          <p:nvPr/>
        </p:nvPicPr>
        <p:blipFill>
          <a:blip r:embed="rId3"/>
          <a:stretch>
            <a:fillRect/>
          </a:stretch>
        </p:blipFill>
        <p:spPr>
          <a:xfrm>
            <a:off x="1389888" y="3364992"/>
            <a:ext cx="914400" cy="914400"/>
          </a:xfrm>
          <a:prstGeom prst="rect">
            <a:avLst/>
          </a:prstGeom>
        </p:spPr>
      </p:pic>
      <p:sp>
        <p:nvSpPr>
          <p:cNvPr id="12" name="Text 8"/>
          <p:cNvSpPr txBox="1"/>
          <p:nvPr/>
        </p:nvSpPr>
        <p:spPr>
          <a:xfrm>
            <a:off x="749808" y="4352544"/>
            <a:ext cx="2194560" cy="457200"/>
          </a:xfrm>
          <a:prstGeom prst="rect">
            <a:avLst/>
          </a:prstGeom>
          <a:noFill/>
          <a:ln/>
        </p:spPr>
        <p:txBody>
          <a:bodyPr wrap="square" lIns="0" tIns="0" rIns="0" bIns="0" rtlCol="0" anchor="ctr"/>
          <a:lstStyle/>
          <a:p>
            <a:pPr marL="0" indent="0" algn="ctr">
              <a:buNone/>
            </a:pPr>
            <a:r>
              <a:rPr lang="en-US" sz="2700" b="1" kern="0" spc="200" dirty="0">
                <a:solidFill>
                  <a:srgbClr val="1B2A18"/>
                </a:solidFill>
                <a:latin typeface="Calibri" pitchFamily="34" charset="0"/>
                <a:ea typeface="Calibri" pitchFamily="34" charset="-122"/>
                <a:cs typeface="Calibri" pitchFamily="34" charset="-120"/>
              </a:rPr>
              <a:t>GALIL</a:t>
            </a:r>
            <a:endParaRPr lang="en-US" sz="2700" dirty="0"/>
          </a:p>
        </p:txBody>
      </p:sp>
      <p:sp>
        <p:nvSpPr>
          <p:cNvPr id="13" name="Text 9"/>
          <p:cNvSpPr txBox="1"/>
          <p:nvPr/>
        </p:nvSpPr>
        <p:spPr>
          <a:xfrm>
            <a:off x="749808" y="4791456"/>
            <a:ext cx="2194560" cy="256032"/>
          </a:xfrm>
          <a:prstGeom prst="rect">
            <a:avLst/>
          </a:prstGeom>
          <a:noFill/>
          <a:ln/>
        </p:spPr>
        <p:txBody>
          <a:bodyPr wrap="square" lIns="0" tIns="0" rIns="0" bIns="0" rtlCol="0" anchor="ctr"/>
          <a:lstStyle/>
          <a:p>
            <a:pPr marL="0" indent="0" algn="ctr">
              <a:buNone/>
            </a:pPr>
            <a:r>
              <a:rPr lang="en-US" sz="1050" dirty="0">
                <a:solidFill>
                  <a:srgbClr val="5B6B57"/>
                </a:solidFill>
                <a:latin typeface="Calibri" pitchFamily="34" charset="0"/>
                <a:ea typeface="Calibri" pitchFamily="34" charset="-122"/>
                <a:cs typeface="Calibri" pitchFamily="34" charset="-120"/>
              </a:rPr>
              <a:t>Technical Writing</a:t>
            </a:r>
            <a:endParaRPr lang="en-US" sz="1050" dirty="0"/>
          </a:p>
        </p:txBody>
      </p:sp>
      <p:sp>
        <p:nvSpPr>
          <p:cNvPr id="14" name="Text 10"/>
          <p:cNvSpPr txBox="1"/>
          <p:nvPr/>
        </p:nvSpPr>
        <p:spPr>
          <a:xfrm>
            <a:off x="3264408" y="3383280"/>
            <a:ext cx="2606040" cy="292608"/>
          </a:xfrm>
          <a:prstGeom prst="rect">
            <a:avLst/>
          </a:prstGeom>
          <a:noFill/>
          <a:ln/>
        </p:spPr>
        <p:txBody>
          <a:bodyPr wrap="square" lIns="0" tIns="0" rIns="0" bIns="0" rtlCol="0" anchor="ctr"/>
          <a:lstStyle/>
          <a:p>
            <a:pPr marL="0" indent="0">
              <a:buNone/>
            </a:pPr>
            <a:r>
              <a:rPr lang="en-US" sz="1400" b="1" dirty="0">
                <a:solidFill>
                  <a:srgbClr val="4E7A1C"/>
                </a:solidFill>
                <a:latin typeface="Calibri" pitchFamily="34" charset="0"/>
                <a:ea typeface="Calibri" pitchFamily="34" charset="-122"/>
                <a:cs typeface="Calibri" pitchFamily="34" charset="-120"/>
              </a:rPr>
              <a:t>Stacked · secondary</a:t>
            </a:r>
            <a:endParaRPr lang="en-US" sz="1400" dirty="0"/>
          </a:p>
        </p:txBody>
      </p:sp>
      <p:sp>
        <p:nvSpPr>
          <p:cNvPr id="15" name="Text 11"/>
          <p:cNvSpPr txBox="1"/>
          <p:nvPr/>
        </p:nvSpPr>
        <p:spPr>
          <a:xfrm>
            <a:off x="3264408" y="3703320"/>
            <a:ext cx="2606040" cy="1188720"/>
          </a:xfrm>
          <a:prstGeom prst="rect">
            <a:avLst/>
          </a:prstGeom>
          <a:noFill/>
          <a:ln/>
        </p:spPr>
        <p:txBody>
          <a:bodyPr wrap="square" lIns="0" tIns="0" rIns="0" bIns="0" rtlCol="0" anchor="ctr"/>
          <a:lstStyle/>
          <a:p>
            <a:pPr marL="0" indent="0">
              <a:lnSpc>
                <a:spcPct val="120000"/>
              </a:lnSpc>
              <a:buNone/>
            </a:pPr>
            <a:r>
              <a:rPr lang="en-US" sz="1150" dirty="0">
                <a:solidFill>
                  <a:srgbClr val="5B6B57"/>
                </a:solidFill>
                <a:latin typeface="Calibri" pitchFamily="34" charset="0"/>
                <a:ea typeface="Calibri" pitchFamily="34" charset="-122"/>
                <a:cs typeface="Calibri" pitchFamily="34" charset="-120"/>
              </a:rPr>
              <a:t>Mark above, wordmark below, centred. Social avatars, roll-up banners, square formats.</a:t>
            </a:r>
            <a:endParaRPr lang="en-US" sz="1150" dirty="0"/>
          </a:p>
        </p:txBody>
      </p:sp>
      <p:sp>
        <p:nvSpPr>
          <p:cNvPr id="16" name="Shape 12"/>
          <p:cNvSpPr/>
          <p:nvPr/>
        </p:nvSpPr>
        <p:spPr>
          <a:xfrm>
            <a:off x="6236208" y="3145536"/>
            <a:ext cx="5358384" cy="2743200"/>
          </a:xfrm>
          <a:prstGeom prst="roundRect">
            <a:avLst>
              <a:gd name="adj" fmla="val 3000"/>
            </a:avLst>
          </a:prstGeom>
          <a:solidFill>
            <a:srgbClr val="F2F8E9"/>
          </a:solidFill>
          <a:ln w="12700">
            <a:solidFill>
              <a:srgbClr val="D8E7C4"/>
            </a:solidFill>
            <a:prstDash val="solid"/>
          </a:ln>
        </p:spPr>
        <p:txBody>
          <a:bodyPr/>
          <a:lstStyle/>
          <a:p>
            <a:endParaRPr lang="en-US"/>
          </a:p>
        </p:txBody>
      </p:sp>
      <p:pic>
        <p:nvPicPr>
          <p:cNvPr id="17" name="Image 2" descr="/home/claude/build/img/logo-bracket.png"/>
          <p:cNvPicPr>
            <a:picLocks noChangeAspect="1"/>
          </p:cNvPicPr>
          <p:nvPr/>
        </p:nvPicPr>
        <p:blipFill>
          <a:blip r:embed="rId3"/>
          <a:stretch>
            <a:fillRect/>
          </a:stretch>
        </p:blipFill>
        <p:spPr>
          <a:xfrm>
            <a:off x="6492240" y="3383280"/>
            <a:ext cx="914400" cy="914400"/>
          </a:xfrm>
          <a:prstGeom prst="rect">
            <a:avLst/>
          </a:prstGeom>
        </p:spPr>
      </p:pic>
      <p:pic>
        <p:nvPicPr>
          <p:cNvPr id="18" name="Image 3" descr="/home/claude/build/img/logo-bracket.png"/>
          <p:cNvPicPr>
            <a:picLocks noChangeAspect="1"/>
          </p:cNvPicPr>
          <p:nvPr/>
        </p:nvPicPr>
        <p:blipFill>
          <a:blip r:embed="rId3"/>
          <a:stretch>
            <a:fillRect/>
          </a:stretch>
        </p:blipFill>
        <p:spPr>
          <a:xfrm>
            <a:off x="7589520" y="3557016"/>
            <a:ext cx="566928" cy="566928"/>
          </a:xfrm>
          <a:prstGeom prst="rect">
            <a:avLst/>
          </a:prstGeom>
        </p:spPr>
      </p:pic>
      <p:pic>
        <p:nvPicPr>
          <p:cNvPr id="19" name="Image 4" descr="/home/claude/build/img/logo-bracket.png"/>
          <p:cNvPicPr>
            <a:picLocks noChangeAspect="1"/>
          </p:cNvPicPr>
          <p:nvPr/>
        </p:nvPicPr>
        <p:blipFill>
          <a:blip r:embed="rId3"/>
          <a:stretch>
            <a:fillRect/>
          </a:stretch>
        </p:blipFill>
        <p:spPr>
          <a:xfrm>
            <a:off x="8686800" y="3666744"/>
            <a:ext cx="347472" cy="347472"/>
          </a:xfrm>
          <a:prstGeom prst="rect">
            <a:avLst/>
          </a:prstGeom>
        </p:spPr>
      </p:pic>
      <p:pic>
        <p:nvPicPr>
          <p:cNvPr id="20" name="Image 5" descr="/home/claude/build/img/logo-bracket.png"/>
          <p:cNvPicPr>
            <a:picLocks noChangeAspect="1"/>
          </p:cNvPicPr>
          <p:nvPr/>
        </p:nvPicPr>
        <p:blipFill>
          <a:blip r:embed="rId3"/>
          <a:stretch>
            <a:fillRect/>
          </a:stretch>
        </p:blipFill>
        <p:spPr>
          <a:xfrm>
            <a:off x="9784080" y="3730752"/>
            <a:ext cx="219456" cy="219456"/>
          </a:xfrm>
          <a:prstGeom prst="rect">
            <a:avLst/>
          </a:prstGeom>
        </p:spPr>
      </p:pic>
      <p:sp>
        <p:nvSpPr>
          <p:cNvPr id="21" name="Text 13"/>
          <p:cNvSpPr txBox="1"/>
          <p:nvPr/>
        </p:nvSpPr>
        <p:spPr>
          <a:xfrm>
            <a:off x="6492240" y="4480560"/>
            <a:ext cx="4754880" cy="292608"/>
          </a:xfrm>
          <a:prstGeom prst="rect">
            <a:avLst/>
          </a:prstGeom>
          <a:noFill/>
          <a:ln/>
        </p:spPr>
        <p:txBody>
          <a:bodyPr wrap="square" lIns="0" tIns="0" rIns="0" bIns="0" rtlCol="0" anchor="ctr"/>
          <a:lstStyle/>
          <a:p>
            <a:pPr marL="0" indent="0">
              <a:buNone/>
            </a:pPr>
            <a:r>
              <a:rPr lang="en-US" sz="1400" b="1" dirty="0">
                <a:solidFill>
                  <a:srgbClr val="4E7A1C"/>
                </a:solidFill>
                <a:latin typeface="Calibri" pitchFamily="34" charset="0"/>
                <a:ea typeface="Calibri" pitchFamily="34" charset="-122"/>
                <a:cs typeface="Calibri" pitchFamily="34" charset="-120"/>
              </a:rPr>
              <a:t>Mark alone · tertiary</a:t>
            </a:r>
            <a:endParaRPr lang="en-US" sz="1400" dirty="0"/>
          </a:p>
        </p:txBody>
      </p:sp>
      <p:sp>
        <p:nvSpPr>
          <p:cNvPr id="22" name="Text 14"/>
          <p:cNvSpPr txBox="1"/>
          <p:nvPr/>
        </p:nvSpPr>
        <p:spPr>
          <a:xfrm>
            <a:off x="6492240" y="4800600"/>
            <a:ext cx="4754880" cy="868680"/>
          </a:xfrm>
          <a:prstGeom prst="rect">
            <a:avLst/>
          </a:prstGeom>
          <a:noFill/>
          <a:ln/>
        </p:spPr>
        <p:txBody>
          <a:bodyPr wrap="square" lIns="0" tIns="0" rIns="0" bIns="0" rtlCol="0" anchor="ctr"/>
          <a:lstStyle/>
          <a:p>
            <a:pPr marL="0" indent="0">
              <a:lnSpc>
                <a:spcPct val="120000"/>
              </a:lnSpc>
              <a:buNone/>
            </a:pPr>
            <a:r>
              <a:rPr lang="en-US" sz="1150" dirty="0">
                <a:solidFill>
                  <a:srgbClr val="5B6B57"/>
                </a:solidFill>
                <a:latin typeface="Calibri" pitchFamily="34" charset="0"/>
                <a:ea typeface="Calibri" pitchFamily="34" charset="-122"/>
                <a:cs typeface="Calibri" pitchFamily="34" charset="-120"/>
              </a:rPr>
              <a:t>Favicon, application icon, WorkDesk header, watermark. Never used where the company is unfamiliar to the audience.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Applied — WorkDesk</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Green leads the interface. Red and Yellow keep their existing meaning as company and client hours.</a:t>
            </a:r>
            <a:endParaRPr lang="en-US" sz="1500" dirty="0"/>
          </a:p>
        </p:txBody>
      </p:sp>
      <p:pic>
        <p:nvPicPr>
          <p:cNvPr id="4" name="Image 0" descr="/home/claude/build/img/ui-mock.png"/>
          <p:cNvPicPr>
            <a:picLocks noChangeAspect="1"/>
          </p:cNvPicPr>
          <p:nvPr/>
        </p:nvPicPr>
        <p:blipFill>
          <a:blip r:embed="rId3"/>
          <a:stretch>
            <a:fillRect/>
          </a:stretch>
        </p:blipFill>
        <p:spPr>
          <a:xfrm>
            <a:off x="566928" y="1645920"/>
            <a:ext cx="7680960" cy="4434840"/>
          </a:xfrm>
          <a:prstGeom prst="rect">
            <a:avLst/>
          </a:prstGeom>
        </p:spPr>
      </p:pic>
      <p:sp>
        <p:nvSpPr>
          <p:cNvPr id="5" name="Shape 2"/>
          <p:cNvSpPr/>
          <p:nvPr/>
        </p:nvSpPr>
        <p:spPr>
          <a:xfrm>
            <a:off x="8503920" y="1828800"/>
            <a:ext cx="182880" cy="182880"/>
          </a:xfrm>
          <a:prstGeom prst="ellipse">
            <a:avLst/>
          </a:prstGeom>
          <a:solidFill>
            <a:srgbClr val="8CC63E"/>
          </a:solidFill>
          <a:ln/>
        </p:spPr>
        <p:txBody>
          <a:bodyPr/>
          <a:lstStyle/>
          <a:p>
            <a:endParaRPr lang="en-US"/>
          </a:p>
        </p:txBody>
      </p:sp>
      <p:sp>
        <p:nvSpPr>
          <p:cNvPr id="6" name="Text 3"/>
          <p:cNvSpPr txBox="1"/>
          <p:nvPr/>
        </p:nvSpPr>
        <p:spPr>
          <a:xfrm>
            <a:off x="8796528" y="1746504"/>
            <a:ext cx="2834640" cy="292608"/>
          </a:xfrm>
          <a:prstGeom prst="rect">
            <a:avLst/>
          </a:prstGeom>
          <a:noFill/>
          <a:ln/>
        </p:spPr>
        <p:txBody>
          <a:bodyPr wrap="square" lIns="0" tIns="0" rIns="0" bIns="0" rtlCol="0" anchor="ctr"/>
          <a:lstStyle/>
          <a:p>
            <a:pPr marL="0" indent="0">
              <a:buNone/>
            </a:pPr>
            <a:r>
              <a:rPr lang="en-US" sz="1350" b="1" dirty="0">
                <a:solidFill>
                  <a:srgbClr val="1B2A18"/>
                </a:solidFill>
                <a:latin typeface="Calibri" pitchFamily="34" charset="0"/>
                <a:ea typeface="Calibri" pitchFamily="34" charset="-122"/>
                <a:cs typeface="Calibri" pitchFamily="34" charset="-120"/>
              </a:rPr>
              <a:t>Green is structural</a:t>
            </a:r>
            <a:endParaRPr lang="en-US" sz="1350" dirty="0"/>
          </a:p>
        </p:txBody>
      </p:sp>
      <p:sp>
        <p:nvSpPr>
          <p:cNvPr id="7" name="Text 4"/>
          <p:cNvSpPr txBox="1"/>
          <p:nvPr/>
        </p:nvSpPr>
        <p:spPr>
          <a:xfrm>
            <a:off x="8796528" y="2057400"/>
            <a:ext cx="2834640" cy="731520"/>
          </a:xfrm>
          <a:prstGeom prst="rect">
            <a:avLst/>
          </a:prstGeom>
          <a:noFill/>
          <a:ln/>
        </p:spPr>
        <p:txBody>
          <a:bodyPr wrap="square" lIns="0" tIns="0" rIns="0" bIns="0" rtlCol="0" anchor="ctr"/>
          <a:lstStyle/>
          <a:p>
            <a:pPr marL="0" indent="0">
              <a:lnSpc>
                <a:spcPct val="120000"/>
              </a:lnSpc>
              <a:buNone/>
            </a:pPr>
            <a:r>
              <a:rPr lang="en-US" sz="1150" dirty="0">
                <a:solidFill>
                  <a:srgbClr val="5B6B57"/>
                </a:solidFill>
                <a:latin typeface="Calibri" pitchFamily="34" charset="0"/>
                <a:ea typeface="Calibri" pitchFamily="34" charset="-122"/>
                <a:cs typeface="Calibri" pitchFamily="34" charset="-120"/>
              </a:rPr>
              <a:t>Active tab, primary action, brand mark. Nowhere else.</a:t>
            </a:r>
            <a:endParaRPr lang="en-US" sz="1150" dirty="0"/>
          </a:p>
        </p:txBody>
      </p:sp>
      <p:sp>
        <p:nvSpPr>
          <p:cNvPr id="8" name="Shape 5"/>
          <p:cNvSpPr/>
          <p:nvPr/>
        </p:nvSpPr>
        <p:spPr>
          <a:xfrm>
            <a:off x="8503920" y="2907792"/>
            <a:ext cx="182880" cy="182880"/>
          </a:xfrm>
          <a:prstGeom prst="ellipse">
            <a:avLst/>
          </a:prstGeom>
          <a:solidFill>
            <a:srgbClr val="8CC63E"/>
          </a:solidFill>
          <a:ln/>
        </p:spPr>
        <p:txBody>
          <a:bodyPr/>
          <a:lstStyle/>
          <a:p>
            <a:endParaRPr lang="en-US"/>
          </a:p>
        </p:txBody>
      </p:sp>
      <p:sp>
        <p:nvSpPr>
          <p:cNvPr id="9" name="Text 6"/>
          <p:cNvSpPr txBox="1"/>
          <p:nvPr/>
        </p:nvSpPr>
        <p:spPr>
          <a:xfrm>
            <a:off x="8796528" y="2825496"/>
            <a:ext cx="2834640" cy="292608"/>
          </a:xfrm>
          <a:prstGeom prst="rect">
            <a:avLst/>
          </a:prstGeom>
          <a:noFill/>
          <a:ln/>
        </p:spPr>
        <p:txBody>
          <a:bodyPr wrap="square" lIns="0" tIns="0" rIns="0" bIns="0" rtlCol="0" anchor="ctr"/>
          <a:lstStyle/>
          <a:p>
            <a:pPr marL="0" indent="0">
              <a:buNone/>
            </a:pPr>
            <a:r>
              <a:rPr lang="en-US" sz="1350" b="1" dirty="0">
                <a:solidFill>
                  <a:srgbClr val="1B2A18"/>
                </a:solidFill>
                <a:latin typeface="Calibri" pitchFamily="34" charset="0"/>
                <a:ea typeface="Calibri" pitchFamily="34" charset="-122"/>
                <a:cs typeface="Calibri" pitchFamily="34" charset="-120"/>
              </a:rPr>
              <a:t>Red and Yellow are data</a:t>
            </a:r>
            <a:endParaRPr lang="en-US" sz="1350" dirty="0"/>
          </a:p>
        </p:txBody>
      </p:sp>
      <p:sp>
        <p:nvSpPr>
          <p:cNvPr id="10" name="Text 7"/>
          <p:cNvSpPr txBox="1"/>
          <p:nvPr/>
        </p:nvSpPr>
        <p:spPr>
          <a:xfrm>
            <a:off x="8796528" y="3136392"/>
            <a:ext cx="2834640" cy="731520"/>
          </a:xfrm>
          <a:prstGeom prst="rect">
            <a:avLst/>
          </a:prstGeom>
          <a:noFill/>
          <a:ln/>
        </p:spPr>
        <p:txBody>
          <a:bodyPr wrap="square" lIns="0" tIns="0" rIns="0" bIns="0" rtlCol="0" anchor="ctr"/>
          <a:lstStyle/>
          <a:p>
            <a:pPr marL="0" indent="0">
              <a:lnSpc>
                <a:spcPct val="120000"/>
              </a:lnSpc>
              <a:buNone/>
            </a:pPr>
            <a:r>
              <a:rPr lang="en-US" sz="1150" dirty="0">
                <a:solidFill>
                  <a:srgbClr val="5B6B57"/>
                </a:solidFill>
                <a:latin typeface="Calibri" pitchFamily="34" charset="0"/>
                <a:ea typeface="Calibri" pitchFamily="34" charset="-122"/>
                <a:cs typeface="Calibri" pitchFamily="34" charset="-120"/>
              </a:rPr>
              <a:t>They mean company and client hours. They are never used for error or warning.</a:t>
            </a:r>
            <a:endParaRPr lang="en-US" sz="1150" dirty="0"/>
          </a:p>
        </p:txBody>
      </p:sp>
      <p:sp>
        <p:nvSpPr>
          <p:cNvPr id="11" name="Shape 8"/>
          <p:cNvSpPr/>
          <p:nvPr/>
        </p:nvSpPr>
        <p:spPr>
          <a:xfrm>
            <a:off x="8503920" y="3986784"/>
            <a:ext cx="182880" cy="182880"/>
          </a:xfrm>
          <a:prstGeom prst="ellipse">
            <a:avLst/>
          </a:prstGeom>
          <a:solidFill>
            <a:srgbClr val="8CC63E"/>
          </a:solidFill>
          <a:ln/>
        </p:spPr>
        <p:txBody>
          <a:bodyPr/>
          <a:lstStyle/>
          <a:p>
            <a:endParaRPr lang="en-US"/>
          </a:p>
        </p:txBody>
      </p:sp>
      <p:sp>
        <p:nvSpPr>
          <p:cNvPr id="12" name="Text 9"/>
          <p:cNvSpPr txBox="1"/>
          <p:nvPr/>
        </p:nvSpPr>
        <p:spPr>
          <a:xfrm>
            <a:off x="8796528" y="3904488"/>
            <a:ext cx="2834640" cy="292608"/>
          </a:xfrm>
          <a:prstGeom prst="rect">
            <a:avLst/>
          </a:prstGeom>
          <a:noFill/>
          <a:ln/>
        </p:spPr>
        <p:txBody>
          <a:bodyPr wrap="square" lIns="0" tIns="0" rIns="0" bIns="0" rtlCol="0" anchor="ctr"/>
          <a:lstStyle/>
          <a:p>
            <a:pPr marL="0" indent="0">
              <a:buNone/>
            </a:pPr>
            <a:r>
              <a:rPr lang="en-US" sz="1350" b="1" dirty="0">
                <a:solidFill>
                  <a:srgbClr val="1B2A18"/>
                </a:solidFill>
                <a:latin typeface="Calibri" pitchFamily="34" charset="0"/>
                <a:ea typeface="Calibri" pitchFamily="34" charset="-122"/>
                <a:cs typeface="Calibri" pitchFamily="34" charset="-120"/>
              </a:rPr>
              <a:t>Amber means pending</a:t>
            </a:r>
            <a:endParaRPr lang="en-US" sz="1350" dirty="0"/>
          </a:p>
        </p:txBody>
      </p:sp>
      <p:sp>
        <p:nvSpPr>
          <p:cNvPr id="13" name="Text 10"/>
          <p:cNvSpPr txBox="1"/>
          <p:nvPr/>
        </p:nvSpPr>
        <p:spPr>
          <a:xfrm>
            <a:off x="8796528" y="4215384"/>
            <a:ext cx="2834640" cy="731520"/>
          </a:xfrm>
          <a:prstGeom prst="rect">
            <a:avLst/>
          </a:prstGeom>
          <a:noFill/>
          <a:ln/>
        </p:spPr>
        <p:txBody>
          <a:bodyPr wrap="square" lIns="0" tIns="0" rIns="0" bIns="0" rtlCol="0" anchor="ctr"/>
          <a:lstStyle/>
          <a:p>
            <a:pPr marL="0" indent="0">
              <a:lnSpc>
                <a:spcPct val="120000"/>
              </a:lnSpc>
              <a:buNone/>
            </a:pPr>
            <a:r>
              <a:rPr lang="en-US" sz="1150" dirty="0">
                <a:solidFill>
                  <a:srgbClr val="5B6B57"/>
                </a:solidFill>
                <a:latin typeface="Calibri" pitchFamily="34" charset="0"/>
                <a:ea typeface="Calibri" pitchFamily="34" charset="-122"/>
                <a:cs typeface="Calibri" pitchFamily="34" charset="-120"/>
              </a:rPr>
              <a:t>A distinct third signal for entries waiting on approval.</a:t>
            </a:r>
            <a:endParaRPr lang="en-US" sz="1150" dirty="0"/>
          </a:p>
        </p:txBody>
      </p:sp>
      <p:sp>
        <p:nvSpPr>
          <p:cNvPr id="14" name="Shape 11"/>
          <p:cNvSpPr/>
          <p:nvPr/>
        </p:nvSpPr>
        <p:spPr>
          <a:xfrm>
            <a:off x="8503920" y="5065776"/>
            <a:ext cx="182880" cy="182880"/>
          </a:xfrm>
          <a:prstGeom prst="ellipse">
            <a:avLst/>
          </a:prstGeom>
          <a:solidFill>
            <a:srgbClr val="8CC63E"/>
          </a:solidFill>
          <a:ln/>
        </p:spPr>
        <p:txBody>
          <a:bodyPr/>
          <a:lstStyle/>
          <a:p>
            <a:endParaRPr lang="en-US"/>
          </a:p>
        </p:txBody>
      </p:sp>
      <p:sp>
        <p:nvSpPr>
          <p:cNvPr id="15" name="Text 12"/>
          <p:cNvSpPr txBox="1"/>
          <p:nvPr/>
        </p:nvSpPr>
        <p:spPr>
          <a:xfrm>
            <a:off x="8796528" y="4983480"/>
            <a:ext cx="2834640" cy="292608"/>
          </a:xfrm>
          <a:prstGeom prst="rect">
            <a:avLst/>
          </a:prstGeom>
          <a:noFill/>
          <a:ln/>
        </p:spPr>
        <p:txBody>
          <a:bodyPr wrap="square" lIns="0" tIns="0" rIns="0" bIns="0" rtlCol="0" anchor="ctr"/>
          <a:lstStyle/>
          <a:p>
            <a:pPr marL="0" indent="0">
              <a:buNone/>
            </a:pPr>
            <a:r>
              <a:rPr lang="en-US" sz="1350" b="1" dirty="0">
                <a:solidFill>
                  <a:srgbClr val="1B2A18"/>
                </a:solidFill>
                <a:latin typeface="Calibri" pitchFamily="34" charset="0"/>
                <a:ea typeface="Calibri" pitchFamily="34" charset="-122"/>
                <a:cs typeface="Calibri" pitchFamily="34" charset="-120"/>
              </a:rPr>
              <a:t>Wash for banding</a:t>
            </a:r>
            <a:endParaRPr lang="en-US" sz="1350" dirty="0"/>
          </a:p>
        </p:txBody>
      </p:sp>
      <p:sp>
        <p:nvSpPr>
          <p:cNvPr id="16" name="Text 13"/>
          <p:cNvSpPr txBox="1"/>
          <p:nvPr/>
        </p:nvSpPr>
        <p:spPr>
          <a:xfrm>
            <a:off x="8796528" y="5294376"/>
            <a:ext cx="2834640" cy="731520"/>
          </a:xfrm>
          <a:prstGeom prst="rect">
            <a:avLst/>
          </a:prstGeom>
          <a:noFill/>
          <a:ln/>
        </p:spPr>
        <p:txBody>
          <a:bodyPr wrap="square" lIns="0" tIns="0" rIns="0" bIns="0" rtlCol="0" anchor="ctr"/>
          <a:lstStyle/>
          <a:p>
            <a:pPr marL="0" indent="0">
              <a:lnSpc>
                <a:spcPct val="120000"/>
              </a:lnSpc>
              <a:buNone/>
            </a:pPr>
            <a:r>
              <a:rPr lang="en-US" sz="1150" dirty="0">
                <a:solidFill>
                  <a:srgbClr val="5B6B57"/>
                </a:solidFill>
                <a:latin typeface="Calibri" pitchFamily="34" charset="0"/>
                <a:ea typeface="Calibri" pitchFamily="34" charset="-122"/>
                <a:cs typeface="Calibri" pitchFamily="34" charset="-120"/>
              </a:rPr>
              <a:t>#F2F8E9 on alternate rows keeps long tables readable without borders.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Applied — website</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A working single-page concept accompanies this deck as galil-website-concept.html. Open it in any browser.</a:t>
            </a:r>
            <a:endParaRPr lang="en-US" sz="1500" dirty="0"/>
          </a:p>
        </p:txBody>
      </p:sp>
      <p:sp>
        <p:nvSpPr>
          <p:cNvPr id="4" name="Shape 2"/>
          <p:cNvSpPr/>
          <p:nvPr/>
        </p:nvSpPr>
        <p:spPr>
          <a:xfrm>
            <a:off x="566928" y="1773936"/>
            <a:ext cx="384048" cy="384048"/>
          </a:xfrm>
          <a:prstGeom prst="ellipse">
            <a:avLst/>
          </a:prstGeom>
          <a:solidFill>
            <a:srgbClr val="8CC63E"/>
          </a:solidFill>
          <a:ln/>
        </p:spPr>
        <p:txBody>
          <a:bodyPr/>
          <a:lstStyle/>
          <a:p>
            <a:endParaRPr lang="en-US"/>
          </a:p>
        </p:txBody>
      </p:sp>
      <p:sp>
        <p:nvSpPr>
          <p:cNvPr id="5" name="Text 3"/>
          <p:cNvSpPr txBox="1"/>
          <p:nvPr/>
        </p:nvSpPr>
        <p:spPr>
          <a:xfrm>
            <a:off x="566928" y="177393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78992" y="1773936"/>
            <a:ext cx="1828800" cy="329184"/>
          </a:xfrm>
          <a:prstGeom prst="rect">
            <a:avLst/>
          </a:prstGeom>
          <a:noFill/>
          <a:ln/>
        </p:spPr>
        <p:txBody>
          <a:bodyPr wrap="square" lIns="0" tIns="0" rIns="0" bIns="0" rtlCol="0" anchor="ctr"/>
          <a:lstStyle/>
          <a:p>
            <a:pPr marL="0" indent="0">
              <a:buNone/>
            </a:pPr>
            <a:r>
              <a:rPr lang="en-US" sz="1600" b="1" dirty="0">
                <a:solidFill>
                  <a:srgbClr val="1B2A18"/>
                </a:solidFill>
                <a:latin typeface="Calibri" pitchFamily="34" charset="0"/>
                <a:ea typeface="Calibri" pitchFamily="34" charset="-122"/>
                <a:cs typeface="Calibri" pitchFamily="34" charset="-120"/>
              </a:rPr>
              <a:t>Hero</a:t>
            </a:r>
            <a:endParaRPr lang="en-US" sz="1600" dirty="0"/>
          </a:p>
        </p:txBody>
      </p:sp>
      <p:sp>
        <p:nvSpPr>
          <p:cNvPr id="7" name="Text 5"/>
          <p:cNvSpPr txBox="1"/>
          <p:nvPr/>
        </p:nvSpPr>
        <p:spPr>
          <a:xfrm>
            <a:off x="2260145" y="1548805"/>
            <a:ext cx="8503920" cy="749808"/>
          </a:xfrm>
          <a:prstGeom prst="rect">
            <a:avLst/>
          </a:prstGeom>
          <a:noFill/>
          <a:ln/>
        </p:spPr>
        <p:txBody>
          <a:bodyPr wrap="square" lIns="0" tIns="0" rIns="0" bIns="0" rtlCol="0" anchor="ctr"/>
          <a:lstStyle/>
          <a:p>
            <a:pPr marL="0" indent="0">
              <a:lnSpc>
                <a:spcPct val="120000"/>
              </a:lnSpc>
              <a:buNone/>
            </a:pPr>
            <a:r>
              <a:rPr lang="en-US" sz="1250" dirty="0">
                <a:solidFill>
                  <a:srgbClr val="5B6B57"/>
                </a:solidFill>
                <a:latin typeface="Calibri" pitchFamily="34" charset="0"/>
                <a:ea typeface="Calibri" pitchFamily="34" charset="-122"/>
                <a:cs typeface="Calibri" pitchFamily="34" charset="-120"/>
              </a:rPr>
              <a:t>One sentence on what GALIL does, one primary action, one supporting action. The current site opens on a product photograph with no statement; this opens with the statement.</a:t>
            </a:r>
            <a:endParaRPr lang="en-US" sz="1250" dirty="0"/>
          </a:p>
        </p:txBody>
      </p:sp>
      <p:sp>
        <p:nvSpPr>
          <p:cNvPr id="8" name="Shape 6"/>
          <p:cNvSpPr/>
          <p:nvPr/>
        </p:nvSpPr>
        <p:spPr>
          <a:xfrm>
            <a:off x="566928" y="2642616"/>
            <a:ext cx="384048" cy="384048"/>
          </a:xfrm>
          <a:prstGeom prst="ellipse">
            <a:avLst/>
          </a:prstGeom>
          <a:solidFill>
            <a:srgbClr val="8CC63E"/>
          </a:solidFill>
          <a:ln/>
        </p:spPr>
        <p:txBody>
          <a:bodyPr/>
          <a:lstStyle/>
          <a:p>
            <a:endParaRPr lang="en-US"/>
          </a:p>
        </p:txBody>
      </p:sp>
      <p:sp>
        <p:nvSpPr>
          <p:cNvPr id="9" name="Text 7"/>
          <p:cNvSpPr txBox="1"/>
          <p:nvPr/>
        </p:nvSpPr>
        <p:spPr>
          <a:xfrm>
            <a:off x="566928" y="26426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78992" y="2642616"/>
            <a:ext cx="1828800" cy="329184"/>
          </a:xfrm>
          <a:prstGeom prst="rect">
            <a:avLst/>
          </a:prstGeom>
          <a:noFill/>
          <a:ln/>
        </p:spPr>
        <p:txBody>
          <a:bodyPr wrap="square" lIns="0" tIns="0" rIns="0" bIns="0" rtlCol="0" anchor="ctr"/>
          <a:lstStyle/>
          <a:p>
            <a:pPr marL="0" indent="0">
              <a:buNone/>
            </a:pPr>
            <a:r>
              <a:rPr lang="en-US" sz="1600" b="1" dirty="0">
                <a:solidFill>
                  <a:srgbClr val="1B2A18"/>
                </a:solidFill>
                <a:latin typeface="Calibri" pitchFamily="34" charset="0"/>
                <a:ea typeface="Calibri" pitchFamily="34" charset="-122"/>
                <a:cs typeface="Calibri" pitchFamily="34" charset="-120"/>
              </a:rPr>
              <a:t>Services</a:t>
            </a:r>
            <a:endParaRPr lang="en-US" sz="1600" dirty="0"/>
          </a:p>
        </p:txBody>
      </p:sp>
      <p:sp>
        <p:nvSpPr>
          <p:cNvPr id="11" name="Text 9"/>
          <p:cNvSpPr txBox="1"/>
          <p:nvPr/>
        </p:nvSpPr>
        <p:spPr>
          <a:xfrm>
            <a:off x="2260145" y="2417485"/>
            <a:ext cx="8503920" cy="749808"/>
          </a:xfrm>
          <a:prstGeom prst="rect">
            <a:avLst/>
          </a:prstGeom>
          <a:noFill/>
          <a:ln/>
        </p:spPr>
        <p:txBody>
          <a:bodyPr wrap="square" lIns="0" tIns="0" rIns="0" bIns="0" rtlCol="0" anchor="ctr"/>
          <a:lstStyle/>
          <a:p>
            <a:pPr marL="0" indent="0">
              <a:lnSpc>
                <a:spcPct val="120000"/>
              </a:lnSpc>
              <a:buNone/>
            </a:pPr>
            <a:r>
              <a:rPr lang="en-US" sz="1250" dirty="0">
                <a:solidFill>
                  <a:srgbClr val="5B6B57"/>
                </a:solidFill>
                <a:latin typeface="Calibri" pitchFamily="34" charset="0"/>
                <a:ea typeface="Calibri" pitchFamily="34" charset="-122"/>
                <a:cs typeface="Calibri" pitchFamily="34" charset="-120"/>
              </a:rPr>
              <a:t>Three cards: technical writing, training, implementation. Each with a plain-English description, not a capability list.</a:t>
            </a:r>
            <a:endParaRPr lang="en-US" sz="1250" dirty="0"/>
          </a:p>
        </p:txBody>
      </p:sp>
      <p:sp>
        <p:nvSpPr>
          <p:cNvPr id="12" name="Shape 10"/>
          <p:cNvSpPr/>
          <p:nvPr/>
        </p:nvSpPr>
        <p:spPr>
          <a:xfrm>
            <a:off x="566928" y="3511296"/>
            <a:ext cx="384048" cy="384048"/>
          </a:xfrm>
          <a:prstGeom prst="ellipse">
            <a:avLst/>
          </a:prstGeom>
          <a:solidFill>
            <a:srgbClr val="8CC63E"/>
          </a:solidFill>
          <a:ln/>
        </p:spPr>
        <p:txBody>
          <a:bodyPr/>
          <a:lstStyle/>
          <a:p>
            <a:endParaRPr lang="en-US"/>
          </a:p>
        </p:txBody>
      </p:sp>
      <p:sp>
        <p:nvSpPr>
          <p:cNvPr id="13" name="Text 11"/>
          <p:cNvSpPr txBox="1"/>
          <p:nvPr/>
        </p:nvSpPr>
        <p:spPr>
          <a:xfrm>
            <a:off x="566928" y="35112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78992" y="3511296"/>
            <a:ext cx="1828800" cy="329184"/>
          </a:xfrm>
          <a:prstGeom prst="rect">
            <a:avLst/>
          </a:prstGeom>
          <a:noFill/>
          <a:ln/>
        </p:spPr>
        <p:txBody>
          <a:bodyPr wrap="square" lIns="0" tIns="0" rIns="0" bIns="0" rtlCol="0" anchor="ctr"/>
          <a:lstStyle/>
          <a:p>
            <a:pPr marL="0" indent="0">
              <a:buNone/>
            </a:pPr>
            <a:r>
              <a:rPr lang="en-US" sz="1600" b="1" dirty="0">
                <a:solidFill>
                  <a:srgbClr val="1B2A18"/>
                </a:solidFill>
                <a:latin typeface="Calibri" pitchFamily="34" charset="0"/>
                <a:ea typeface="Calibri" pitchFamily="34" charset="-122"/>
                <a:cs typeface="Calibri" pitchFamily="34" charset="-120"/>
              </a:rPr>
              <a:t>Proof</a:t>
            </a:r>
            <a:endParaRPr lang="en-US" sz="1600" dirty="0"/>
          </a:p>
        </p:txBody>
      </p:sp>
      <p:sp>
        <p:nvSpPr>
          <p:cNvPr id="15" name="Text 13"/>
          <p:cNvSpPr txBox="1"/>
          <p:nvPr/>
        </p:nvSpPr>
        <p:spPr>
          <a:xfrm>
            <a:off x="2260145" y="3286165"/>
            <a:ext cx="8503920" cy="749808"/>
          </a:xfrm>
          <a:prstGeom prst="rect">
            <a:avLst/>
          </a:prstGeom>
          <a:noFill/>
          <a:ln/>
        </p:spPr>
        <p:txBody>
          <a:bodyPr wrap="square" lIns="0" tIns="0" rIns="0" bIns="0" rtlCol="0" anchor="ctr"/>
          <a:lstStyle/>
          <a:p>
            <a:pPr marL="0" indent="0">
              <a:lnSpc>
                <a:spcPct val="120000"/>
              </a:lnSpc>
              <a:buNone/>
            </a:pPr>
            <a:r>
              <a:rPr lang="en-US" sz="1250" dirty="0">
                <a:solidFill>
                  <a:srgbClr val="5B6B57"/>
                </a:solidFill>
                <a:latin typeface="Calibri" pitchFamily="34" charset="0"/>
                <a:ea typeface="Calibri" pitchFamily="34" charset="-122"/>
                <a:cs typeface="Calibri" pitchFamily="34" charset="-120"/>
              </a:rPr>
              <a:t>Numbers the company can stand behind — years, clients, deliverables, sectors — and the client logo wall.</a:t>
            </a:r>
            <a:endParaRPr lang="en-US" sz="1250" dirty="0"/>
          </a:p>
        </p:txBody>
      </p:sp>
      <p:sp>
        <p:nvSpPr>
          <p:cNvPr id="16" name="Shape 14"/>
          <p:cNvSpPr/>
          <p:nvPr/>
        </p:nvSpPr>
        <p:spPr>
          <a:xfrm>
            <a:off x="566928" y="4379976"/>
            <a:ext cx="384048" cy="384048"/>
          </a:xfrm>
          <a:prstGeom prst="ellipse">
            <a:avLst/>
          </a:prstGeom>
          <a:solidFill>
            <a:srgbClr val="8CC63E"/>
          </a:solidFill>
          <a:ln/>
        </p:spPr>
        <p:txBody>
          <a:bodyPr/>
          <a:lstStyle/>
          <a:p>
            <a:endParaRPr lang="en-US"/>
          </a:p>
        </p:txBody>
      </p:sp>
      <p:sp>
        <p:nvSpPr>
          <p:cNvPr id="17" name="Text 15"/>
          <p:cNvSpPr txBox="1"/>
          <p:nvPr/>
        </p:nvSpPr>
        <p:spPr>
          <a:xfrm>
            <a:off x="566928" y="437997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78992" y="4379976"/>
            <a:ext cx="1828800" cy="329184"/>
          </a:xfrm>
          <a:prstGeom prst="rect">
            <a:avLst/>
          </a:prstGeom>
          <a:noFill/>
          <a:ln/>
        </p:spPr>
        <p:txBody>
          <a:bodyPr wrap="square" lIns="0" tIns="0" rIns="0" bIns="0" rtlCol="0" anchor="ctr"/>
          <a:lstStyle/>
          <a:p>
            <a:pPr marL="0" indent="0">
              <a:buNone/>
            </a:pPr>
            <a:r>
              <a:rPr lang="en-US" sz="1600" b="1" dirty="0">
                <a:solidFill>
                  <a:srgbClr val="1B2A18"/>
                </a:solidFill>
                <a:latin typeface="Calibri" pitchFamily="34" charset="0"/>
                <a:ea typeface="Calibri" pitchFamily="34" charset="-122"/>
                <a:cs typeface="Calibri" pitchFamily="34" charset="-120"/>
              </a:rPr>
              <a:t>Process</a:t>
            </a:r>
            <a:endParaRPr lang="en-US" sz="1600" dirty="0"/>
          </a:p>
        </p:txBody>
      </p:sp>
      <p:sp>
        <p:nvSpPr>
          <p:cNvPr id="19" name="Text 17"/>
          <p:cNvSpPr txBox="1"/>
          <p:nvPr/>
        </p:nvSpPr>
        <p:spPr>
          <a:xfrm>
            <a:off x="2260145" y="4154845"/>
            <a:ext cx="8503920" cy="749808"/>
          </a:xfrm>
          <a:prstGeom prst="rect">
            <a:avLst/>
          </a:prstGeom>
          <a:noFill/>
          <a:ln/>
        </p:spPr>
        <p:txBody>
          <a:bodyPr wrap="square" lIns="0" tIns="0" rIns="0" bIns="0" rtlCol="0" anchor="ctr"/>
          <a:lstStyle/>
          <a:p>
            <a:pPr marL="0" indent="0">
              <a:lnSpc>
                <a:spcPct val="120000"/>
              </a:lnSpc>
              <a:buNone/>
            </a:pPr>
            <a:r>
              <a:rPr lang="en-US" sz="1250" dirty="0">
                <a:solidFill>
                  <a:srgbClr val="5B6B57"/>
                </a:solidFill>
                <a:latin typeface="Calibri" pitchFamily="34" charset="0"/>
                <a:ea typeface="Calibri" pitchFamily="34" charset="-122"/>
                <a:cs typeface="Calibri" pitchFamily="34" charset="-120"/>
              </a:rPr>
              <a:t>The four-step cycle from direction 03, used as a real section: brief, draft, review, deliver.</a:t>
            </a:r>
            <a:endParaRPr lang="en-US" sz="1250" dirty="0"/>
          </a:p>
        </p:txBody>
      </p:sp>
      <p:sp>
        <p:nvSpPr>
          <p:cNvPr id="20" name="Shape 18"/>
          <p:cNvSpPr/>
          <p:nvPr/>
        </p:nvSpPr>
        <p:spPr>
          <a:xfrm>
            <a:off x="566928" y="5248656"/>
            <a:ext cx="384048" cy="384048"/>
          </a:xfrm>
          <a:prstGeom prst="ellipse">
            <a:avLst/>
          </a:prstGeom>
          <a:solidFill>
            <a:srgbClr val="8CC63E"/>
          </a:solidFill>
          <a:ln/>
        </p:spPr>
        <p:txBody>
          <a:bodyPr/>
          <a:lstStyle/>
          <a:p>
            <a:endParaRPr lang="en-US"/>
          </a:p>
        </p:txBody>
      </p:sp>
      <p:sp>
        <p:nvSpPr>
          <p:cNvPr id="21" name="Text 19"/>
          <p:cNvSpPr txBox="1"/>
          <p:nvPr/>
        </p:nvSpPr>
        <p:spPr>
          <a:xfrm>
            <a:off x="566928" y="52486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078992" y="5248656"/>
            <a:ext cx="1828800" cy="329184"/>
          </a:xfrm>
          <a:prstGeom prst="rect">
            <a:avLst/>
          </a:prstGeom>
          <a:noFill/>
          <a:ln/>
        </p:spPr>
        <p:txBody>
          <a:bodyPr wrap="square" lIns="0" tIns="0" rIns="0" bIns="0" rtlCol="0" anchor="ctr"/>
          <a:lstStyle/>
          <a:p>
            <a:pPr marL="0" indent="0">
              <a:buNone/>
            </a:pPr>
            <a:r>
              <a:rPr lang="en-US" sz="1600" b="1" dirty="0">
                <a:solidFill>
                  <a:srgbClr val="1B2A18"/>
                </a:solidFill>
                <a:latin typeface="Calibri" pitchFamily="34" charset="0"/>
                <a:ea typeface="Calibri" pitchFamily="34" charset="-122"/>
                <a:cs typeface="Calibri" pitchFamily="34" charset="-120"/>
              </a:rPr>
              <a:t>Contact</a:t>
            </a:r>
            <a:endParaRPr lang="en-US" sz="1600" dirty="0"/>
          </a:p>
        </p:txBody>
      </p:sp>
      <p:sp>
        <p:nvSpPr>
          <p:cNvPr id="23" name="Text 21"/>
          <p:cNvSpPr txBox="1"/>
          <p:nvPr/>
        </p:nvSpPr>
        <p:spPr>
          <a:xfrm>
            <a:off x="2260145" y="5023525"/>
            <a:ext cx="8503920" cy="749808"/>
          </a:xfrm>
          <a:prstGeom prst="rect">
            <a:avLst/>
          </a:prstGeom>
          <a:noFill/>
          <a:ln/>
        </p:spPr>
        <p:txBody>
          <a:bodyPr wrap="square" lIns="0" tIns="0" rIns="0" bIns="0" rtlCol="0" anchor="ctr"/>
          <a:lstStyle/>
          <a:p>
            <a:pPr marL="0" indent="0">
              <a:lnSpc>
                <a:spcPct val="120000"/>
              </a:lnSpc>
              <a:buNone/>
            </a:pPr>
            <a:r>
              <a:rPr lang="en-US" sz="1250" dirty="0">
                <a:solidFill>
                  <a:srgbClr val="5B6B57"/>
                </a:solidFill>
                <a:latin typeface="Calibri" pitchFamily="34" charset="0"/>
                <a:ea typeface="Calibri" pitchFamily="34" charset="-122"/>
                <a:cs typeface="Calibri" pitchFamily="34" charset="-120"/>
              </a:rPr>
              <a:t>A short form and the direct channels already on the current site. No chat widget.</a:t>
            </a:r>
            <a:endParaRPr lang="en-US" sz="1250" dirty="0"/>
          </a:p>
        </p:txBody>
      </p:sp>
      <p:sp>
        <p:nvSpPr>
          <p:cNvPr id="24" name="Text 22"/>
          <p:cNvSpPr txBox="1"/>
          <p:nvPr/>
        </p:nvSpPr>
        <p:spPr>
          <a:xfrm>
            <a:off x="566928" y="6382512"/>
            <a:ext cx="11027664" cy="274320"/>
          </a:xfrm>
          <a:prstGeom prst="rect">
            <a:avLst/>
          </a:prstGeom>
          <a:noFill/>
          <a:ln/>
        </p:spPr>
        <p:txBody>
          <a:bodyPr wrap="square" lIns="0" tIns="0" rIns="0" bIns="0" rtlCol="0" anchor="ctr"/>
          <a:lstStyle/>
          <a:p>
            <a:pPr marL="0" indent="0">
              <a:buNone/>
            </a:pPr>
            <a:r>
              <a:rPr lang="en-US" sz="1050" dirty="0">
                <a:solidFill>
                  <a:srgbClr val="5B6B57"/>
                </a:solidFill>
                <a:latin typeface="Calibri" pitchFamily="34" charset="0"/>
                <a:ea typeface="Calibri" pitchFamily="34" charset="-122"/>
                <a:cs typeface="Calibri" pitchFamily="34" charset="-120"/>
              </a:rPr>
              <a:t>The concept file uses palette A and Noto Sans, and swaps to any other option by changing five CSS variables at the top of the file.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10F"/>
        </a:solidFill>
        <a:effectLst/>
      </p:bgPr>
    </p:bg>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Recommendation</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C7E89A"/>
                </a:solidFill>
                <a:latin typeface="Calibri" pitchFamily="34" charset="0"/>
                <a:ea typeface="Calibri" pitchFamily="34" charset="-122"/>
                <a:cs typeface="Calibri" pitchFamily="34" charset="-120"/>
              </a:rPr>
              <a:t>One position, offered for you to argue with.</a:t>
            </a:r>
            <a:endParaRPr lang="en-US" sz="1500" dirty="0"/>
          </a:p>
        </p:txBody>
      </p:sp>
      <p:sp>
        <p:nvSpPr>
          <p:cNvPr id="4" name="Shape 2"/>
          <p:cNvSpPr/>
          <p:nvPr/>
        </p:nvSpPr>
        <p:spPr>
          <a:xfrm>
            <a:off x="566928" y="1737360"/>
            <a:ext cx="11027664" cy="960120"/>
          </a:xfrm>
          <a:prstGeom prst="roundRect">
            <a:avLst>
              <a:gd name="adj" fmla="val 7619"/>
            </a:avLst>
          </a:prstGeom>
          <a:solidFill>
            <a:srgbClr val="1E3018"/>
          </a:solidFill>
          <a:ln w="12700">
            <a:solidFill>
              <a:srgbClr val="2E4726"/>
            </a:solidFill>
            <a:prstDash val="solid"/>
          </a:ln>
        </p:spPr>
        <p:txBody>
          <a:bodyPr/>
          <a:lstStyle/>
          <a:p>
            <a:endParaRPr lang="en-US"/>
          </a:p>
        </p:txBody>
      </p:sp>
      <p:sp>
        <p:nvSpPr>
          <p:cNvPr id="5" name="Text 3"/>
          <p:cNvSpPr txBox="1"/>
          <p:nvPr/>
        </p:nvSpPr>
        <p:spPr>
          <a:xfrm>
            <a:off x="859536" y="1865376"/>
            <a:ext cx="1371600" cy="292608"/>
          </a:xfrm>
          <a:prstGeom prst="rect">
            <a:avLst/>
          </a:prstGeom>
          <a:noFill/>
          <a:ln/>
        </p:spPr>
        <p:txBody>
          <a:bodyPr wrap="square" lIns="0" tIns="0" rIns="0" bIns="0" rtlCol="0" anchor="ctr"/>
          <a:lstStyle/>
          <a:p>
            <a:pPr marL="0" indent="0">
              <a:buNone/>
            </a:pPr>
            <a:r>
              <a:rPr lang="en-US" sz="1200" b="1" kern="0" spc="120" dirty="0">
                <a:solidFill>
                  <a:srgbClr val="8FA585"/>
                </a:solidFill>
                <a:latin typeface="Calibri" pitchFamily="34" charset="0"/>
                <a:ea typeface="Calibri" pitchFamily="34" charset="-122"/>
                <a:cs typeface="Calibri" pitchFamily="34" charset="-120"/>
              </a:rPr>
              <a:t>Mark</a:t>
            </a:r>
            <a:endParaRPr lang="en-US" sz="1200" dirty="0"/>
          </a:p>
        </p:txBody>
      </p:sp>
      <p:sp>
        <p:nvSpPr>
          <p:cNvPr id="6" name="Text 4"/>
          <p:cNvSpPr txBox="1"/>
          <p:nvPr/>
        </p:nvSpPr>
        <p:spPr>
          <a:xfrm>
            <a:off x="859536" y="2176272"/>
            <a:ext cx="2651760" cy="365760"/>
          </a:xfrm>
          <a:prstGeom prst="rect">
            <a:avLst/>
          </a:prstGeom>
          <a:noFill/>
          <a:ln/>
        </p:spPr>
        <p:txBody>
          <a:bodyPr wrap="square" lIns="0" tIns="0" rIns="0" bIns="0" rtlCol="0" anchor="ctr"/>
          <a:lstStyle/>
          <a:p>
            <a:pPr marL="0" indent="0">
              <a:buNone/>
            </a:pPr>
            <a:r>
              <a:rPr lang="en-US" sz="1900" b="1" dirty="0">
                <a:solidFill>
                  <a:srgbClr val="8CC63E"/>
                </a:solidFill>
                <a:latin typeface="Calibri" pitchFamily="34" charset="0"/>
                <a:ea typeface="Calibri" pitchFamily="34" charset="-122"/>
                <a:cs typeface="Calibri" pitchFamily="34" charset="-120"/>
              </a:rPr>
              <a:t>04 The Bracket</a:t>
            </a:r>
            <a:endParaRPr lang="en-US" sz="1900" dirty="0"/>
          </a:p>
        </p:txBody>
      </p:sp>
      <p:sp>
        <p:nvSpPr>
          <p:cNvPr id="7" name="Text 5"/>
          <p:cNvSpPr txBox="1"/>
          <p:nvPr/>
        </p:nvSpPr>
        <p:spPr>
          <a:xfrm>
            <a:off x="3767328" y="1920240"/>
            <a:ext cx="7589520" cy="685800"/>
          </a:xfrm>
          <a:prstGeom prst="rect">
            <a:avLst/>
          </a:prstGeom>
          <a:noFill/>
          <a:ln/>
        </p:spPr>
        <p:txBody>
          <a:bodyPr wrap="square" lIns="0" tIns="0" rIns="0" bIns="0" rtlCol="0" anchor="ctr"/>
          <a:lstStyle/>
          <a:p>
            <a:pPr marL="0" indent="0">
              <a:lnSpc>
                <a:spcPct val="120000"/>
              </a:lnSpc>
              <a:buNone/>
            </a:pPr>
            <a:r>
              <a:rPr lang="en-US" sz="1250" dirty="0">
                <a:solidFill>
                  <a:srgbClr val="C3D2B8"/>
                </a:solidFill>
                <a:latin typeface="Calibri" pitchFamily="34" charset="0"/>
                <a:ea typeface="Calibri" pitchFamily="34" charset="-122"/>
                <a:cs typeface="Calibri" pitchFamily="34" charset="-120"/>
              </a:rPr>
              <a:t>It says what GALIL does, it survives at 16 px, and it gives English-language material a mark it currently does not have. 01 The Ring is the alternative if you want something less literal.</a:t>
            </a:r>
            <a:endParaRPr lang="en-US" sz="1250" dirty="0"/>
          </a:p>
        </p:txBody>
      </p:sp>
      <p:sp>
        <p:nvSpPr>
          <p:cNvPr id="8" name="Shape 6"/>
          <p:cNvSpPr/>
          <p:nvPr/>
        </p:nvSpPr>
        <p:spPr>
          <a:xfrm>
            <a:off x="566928" y="2834640"/>
            <a:ext cx="11027664" cy="960120"/>
          </a:xfrm>
          <a:prstGeom prst="roundRect">
            <a:avLst>
              <a:gd name="adj" fmla="val 7619"/>
            </a:avLst>
          </a:prstGeom>
          <a:solidFill>
            <a:srgbClr val="1E3018"/>
          </a:solidFill>
          <a:ln w="12700">
            <a:solidFill>
              <a:srgbClr val="2E4726"/>
            </a:solidFill>
            <a:prstDash val="solid"/>
          </a:ln>
        </p:spPr>
        <p:txBody>
          <a:bodyPr/>
          <a:lstStyle/>
          <a:p>
            <a:endParaRPr lang="en-US"/>
          </a:p>
        </p:txBody>
      </p:sp>
      <p:sp>
        <p:nvSpPr>
          <p:cNvPr id="9" name="Text 7"/>
          <p:cNvSpPr txBox="1"/>
          <p:nvPr/>
        </p:nvSpPr>
        <p:spPr>
          <a:xfrm>
            <a:off x="859536" y="2962656"/>
            <a:ext cx="1371600" cy="292608"/>
          </a:xfrm>
          <a:prstGeom prst="rect">
            <a:avLst/>
          </a:prstGeom>
          <a:noFill/>
          <a:ln/>
        </p:spPr>
        <p:txBody>
          <a:bodyPr wrap="square" lIns="0" tIns="0" rIns="0" bIns="0" rtlCol="0" anchor="ctr"/>
          <a:lstStyle/>
          <a:p>
            <a:pPr marL="0" indent="0">
              <a:buNone/>
            </a:pPr>
            <a:r>
              <a:rPr lang="en-US" sz="1200" b="1" kern="0" spc="120" dirty="0">
                <a:solidFill>
                  <a:srgbClr val="8FA585"/>
                </a:solidFill>
                <a:latin typeface="Calibri" pitchFamily="34" charset="0"/>
                <a:ea typeface="Calibri" pitchFamily="34" charset="-122"/>
                <a:cs typeface="Calibri" pitchFamily="34" charset="-120"/>
              </a:rPr>
              <a:t>Palette</a:t>
            </a:r>
            <a:endParaRPr lang="en-US" sz="1200" dirty="0"/>
          </a:p>
        </p:txBody>
      </p:sp>
      <p:sp>
        <p:nvSpPr>
          <p:cNvPr id="10" name="Text 8"/>
          <p:cNvSpPr txBox="1"/>
          <p:nvPr/>
        </p:nvSpPr>
        <p:spPr>
          <a:xfrm>
            <a:off x="859536" y="3273552"/>
            <a:ext cx="2651760" cy="365760"/>
          </a:xfrm>
          <a:prstGeom prst="rect">
            <a:avLst/>
          </a:prstGeom>
          <a:noFill/>
          <a:ln/>
        </p:spPr>
        <p:txBody>
          <a:bodyPr wrap="square" lIns="0" tIns="0" rIns="0" bIns="0" rtlCol="0" anchor="ctr"/>
          <a:lstStyle/>
          <a:p>
            <a:pPr marL="0" indent="0">
              <a:buNone/>
            </a:pPr>
            <a:r>
              <a:rPr lang="en-US" sz="1900" b="1" dirty="0">
                <a:solidFill>
                  <a:srgbClr val="8CC63E"/>
                </a:solidFill>
                <a:latin typeface="Calibri" pitchFamily="34" charset="0"/>
                <a:ea typeface="Calibri" pitchFamily="34" charset="-122"/>
                <a:cs typeface="Calibri" pitchFamily="34" charset="-120"/>
              </a:rPr>
              <a:t>A · Continuity</a:t>
            </a:r>
            <a:endParaRPr lang="en-US" sz="1900" dirty="0"/>
          </a:p>
        </p:txBody>
      </p:sp>
      <p:sp>
        <p:nvSpPr>
          <p:cNvPr id="11" name="Text 9"/>
          <p:cNvSpPr txBox="1"/>
          <p:nvPr/>
        </p:nvSpPr>
        <p:spPr>
          <a:xfrm>
            <a:off x="3767328" y="3017520"/>
            <a:ext cx="7589520" cy="685800"/>
          </a:xfrm>
          <a:prstGeom prst="rect">
            <a:avLst/>
          </a:prstGeom>
          <a:noFill/>
          <a:ln/>
        </p:spPr>
        <p:txBody>
          <a:bodyPr wrap="square" lIns="0" tIns="0" rIns="0" bIns="0" rtlCol="0" anchor="ctr"/>
          <a:lstStyle/>
          <a:p>
            <a:pPr marL="0" indent="0">
              <a:lnSpc>
                <a:spcPct val="120000"/>
              </a:lnSpc>
              <a:buNone/>
            </a:pPr>
            <a:r>
              <a:rPr lang="en-US" sz="1250" dirty="0">
                <a:solidFill>
                  <a:srgbClr val="C3D2B8"/>
                </a:solidFill>
                <a:latin typeface="Calibri" pitchFamily="34" charset="0"/>
                <a:ea typeface="Calibri" pitchFamily="34" charset="-122"/>
                <a:cs typeface="Calibri" pitchFamily="34" charset="-120"/>
              </a:rPr>
              <a:t>Least disruption to existing material, and the teal is already carrying data in WorkDesk. Choose C if you want the identity to feel more technical to defence clients.</a:t>
            </a:r>
            <a:endParaRPr lang="en-US" sz="1250" dirty="0"/>
          </a:p>
        </p:txBody>
      </p:sp>
      <p:sp>
        <p:nvSpPr>
          <p:cNvPr id="12" name="Shape 10"/>
          <p:cNvSpPr/>
          <p:nvPr/>
        </p:nvSpPr>
        <p:spPr>
          <a:xfrm>
            <a:off x="566928" y="3931920"/>
            <a:ext cx="11027664" cy="960120"/>
          </a:xfrm>
          <a:prstGeom prst="roundRect">
            <a:avLst>
              <a:gd name="adj" fmla="val 7619"/>
            </a:avLst>
          </a:prstGeom>
          <a:solidFill>
            <a:srgbClr val="1E3018"/>
          </a:solidFill>
          <a:ln w="12700">
            <a:solidFill>
              <a:srgbClr val="2E4726"/>
            </a:solidFill>
            <a:prstDash val="solid"/>
          </a:ln>
        </p:spPr>
        <p:txBody>
          <a:bodyPr/>
          <a:lstStyle/>
          <a:p>
            <a:endParaRPr lang="en-US"/>
          </a:p>
        </p:txBody>
      </p:sp>
      <p:sp>
        <p:nvSpPr>
          <p:cNvPr id="13" name="Text 11"/>
          <p:cNvSpPr txBox="1"/>
          <p:nvPr/>
        </p:nvSpPr>
        <p:spPr>
          <a:xfrm>
            <a:off x="859536" y="4059936"/>
            <a:ext cx="1371600" cy="292608"/>
          </a:xfrm>
          <a:prstGeom prst="rect">
            <a:avLst/>
          </a:prstGeom>
          <a:noFill/>
          <a:ln/>
        </p:spPr>
        <p:txBody>
          <a:bodyPr wrap="square" lIns="0" tIns="0" rIns="0" bIns="0" rtlCol="0" anchor="ctr"/>
          <a:lstStyle/>
          <a:p>
            <a:pPr marL="0" indent="0">
              <a:buNone/>
            </a:pPr>
            <a:r>
              <a:rPr lang="en-US" sz="1200" b="1" kern="0" spc="120" dirty="0">
                <a:solidFill>
                  <a:srgbClr val="8FA585"/>
                </a:solidFill>
                <a:latin typeface="Calibri" pitchFamily="34" charset="0"/>
                <a:ea typeface="Calibri" pitchFamily="34" charset="-122"/>
                <a:cs typeface="Calibri" pitchFamily="34" charset="-120"/>
              </a:rPr>
              <a:t>Type</a:t>
            </a:r>
            <a:endParaRPr lang="en-US" sz="1200" dirty="0"/>
          </a:p>
        </p:txBody>
      </p:sp>
      <p:sp>
        <p:nvSpPr>
          <p:cNvPr id="14" name="Text 12"/>
          <p:cNvSpPr txBox="1"/>
          <p:nvPr/>
        </p:nvSpPr>
        <p:spPr>
          <a:xfrm>
            <a:off x="859536" y="4370832"/>
            <a:ext cx="2651760" cy="365760"/>
          </a:xfrm>
          <a:prstGeom prst="rect">
            <a:avLst/>
          </a:prstGeom>
          <a:noFill/>
          <a:ln/>
        </p:spPr>
        <p:txBody>
          <a:bodyPr wrap="square" lIns="0" tIns="0" rIns="0" bIns="0" rtlCol="0" anchor="ctr"/>
          <a:lstStyle/>
          <a:p>
            <a:pPr marL="0" indent="0">
              <a:buNone/>
            </a:pPr>
            <a:r>
              <a:rPr lang="en-US" sz="1900" b="1" dirty="0">
                <a:solidFill>
                  <a:srgbClr val="8CC63E"/>
                </a:solidFill>
                <a:latin typeface="Calibri" pitchFamily="34" charset="0"/>
                <a:ea typeface="Calibri" pitchFamily="34" charset="-122"/>
                <a:cs typeface="Calibri" pitchFamily="34" charset="-120"/>
              </a:rPr>
              <a:t>Noto Sans</a:t>
            </a:r>
            <a:endParaRPr lang="en-US" sz="1900" dirty="0"/>
          </a:p>
        </p:txBody>
      </p:sp>
      <p:sp>
        <p:nvSpPr>
          <p:cNvPr id="15" name="Text 13"/>
          <p:cNvSpPr txBox="1"/>
          <p:nvPr/>
        </p:nvSpPr>
        <p:spPr>
          <a:xfrm>
            <a:off x="3767328" y="4114800"/>
            <a:ext cx="7589520" cy="685800"/>
          </a:xfrm>
          <a:prstGeom prst="rect">
            <a:avLst/>
          </a:prstGeom>
          <a:noFill/>
          <a:ln/>
        </p:spPr>
        <p:txBody>
          <a:bodyPr wrap="square" lIns="0" tIns="0" rIns="0" bIns="0" rtlCol="0" anchor="ctr"/>
          <a:lstStyle/>
          <a:p>
            <a:pPr marL="0" indent="0">
              <a:lnSpc>
                <a:spcPct val="120000"/>
              </a:lnSpc>
              <a:buNone/>
            </a:pPr>
            <a:r>
              <a:rPr lang="en-US" sz="1250" dirty="0">
                <a:solidFill>
                  <a:srgbClr val="C3D2B8"/>
                </a:solidFill>
                <a:latin typeface="Calibri" pitchFamily="34" charset="0"/>
                <a:ea typeface="Calibri" pitchFamily="34" charset="-122"/>
                <a:cs typeface="Calibri" pitchFamily="34" charset="-120"/>
              </a:rPr>
              <a:t>The only option that handles Hebrew and Latin in one family at no licence cost. This matches your manager's suggestion.</a:t>
            </a:r>
            <a:endParaRPr lang="en-US" sz="1250" dirty="0"/>
          </a:p>
        </p:txBody>
      </p:sp>
      <p:sp>
        <p:nvSpPr>
          <p:cNvPr id="16" name="Shape 14"/>
          <p:cNvSpPr/>
          <p:nvPr/>
        </p:nvSpPr>
        <p:spPr>
          <a:xfrm>
            <a:off x="566928" y="5029200"/>
            <a:ext cx="11027664" cy="960120"/>
          </a:xfrm>
          <a:prstGeom prst="roundRect">
            <a:avLst>
              <a:gd name="adj" fmla="val 7619"/>
            </a:avLst>
          </a:prstGeom>
          <a:solidFill>
            <a:srgbClr val="1E3018"/>
          </a:solidFill>
          <a:ln w="12700">
            <a:solidFill>
              <a:srgbClr val="2E4726"/>
            </a:solidFill>
            <a:prstDash val="solid"/>
          </a:ln>
        </p:spPr>
        <p:txBody>
          <a:bodyPr/>
          <a:lstStyle/>
          <a:p>
            <a:endParaRPr lang="en-US"/>
          </a:p>
        </p:txBody>
      </p:sp>
      <p:sp>
        <p:nvSpPr>
          <p:cNvPr id="17" name="Text 15"/>
          <p:cNvSpPr txBox="1"/>
          <p:nvPr/>
        </p:nvSpPr>
        <p:spPr>
          <a:xfrm>
            <a:off x="859536" y="5157216"/>
            <a:ext cx="1371600" cy="292608"/>
          </a:xfrm>
          <a:prstGeom prst="rect">
            <a:avLst/>
          </a:prstGeom>
          <a:noFill/>
          <a:ln/>
        </p:spPr>
        <p:txBody>
          <a:bodyPr wrap="square" lIns="0" tIns="0" rIns="0" bIns="0" rtlCol="0" anchor="ctr"/>
          <a:lstStyle/>
          <a:p>
            <a:pPr marL="0" indent="0">
              <a:buNone/>
            </a:pPr>
            <a:r>
              <a:rPr lang="en-US" sz="1200" b="1" kern="0" spc="120" dirty="0">
                <a:solidFill>
                  <a:srgbClr val="8FA585"/>
                </a:solidFill>
                <a:latin typeface="Calibri" pitchFamily="34" charset="0"/>
                <a:ea typeface="Calibri" pitchFamily="34" charset="-122"/>
                <a:cs typeface="Calibri" pitchFamily="34" charset="-120"/>
              </a:rPr>
              <a:t>Lockup</a:t>
            </a:r>
            <a:endParaRPr lang="en-US" sz="1200" dirty="0"/>
          </a:p>
        </p:txBody>
      </p:sp>
      <p:sp>
        <p:nvSpPr>
          <p:cNvPr id="18" name="Text 16"/>
          <p:cNvSpPr txBox="1"/>
          <p:nvPr/>
        </p:nvSpPr>
        <p:spPr>
          <a:xfrm>
            <a:off x="859536" y="5468112"/>
            <a:ext cx="2651760" cy="365760"/>
          </a:xfrm>
          <a:prstGeom prst="rect">
            <a:avLst/>
          </a:prstGeom>
          <a:noFill/>
          <a:ln/>
        </p:spPr>
        <p:txBody>
          <a:bodyPr wrap="square" lIns="0" tIns="0" rIns="0" bIns="0" rtlCol="0" anchor="ctr"/>
          <a:lstStyle/>
          <a:p>
            <a:pPr marL="0" indent="0">
              <a:buNone/>
            </a:pPr>
            <a:r>
              <a:rPr lang="en-US" sz="1900" b="1" dirty="0">
                <a:solidFill>
                  <a:srgbClr val="8CC63E"/>
                </a:solidFill>
                <a:latin typeface="Calibri" pitchFamily="34" charset="0"/>
                <a:ea typeface="Calibri" pitchFamily="34" charset="-122"/>
                <a:cs typeface="Calibri" pitchFamily="34" charset="-120"/>
              </a:rPr>
              <a:t>Latin and Hebrew paired</a:t>
            </a:r>
            <a:endParaRPr lang="en-US" sz="1900" dirty="0"/>
          </a:p>
        </p:txBody>
      </p:sp>
      <p:sp>
        <p:nvSpPr>
          <p:cNvPr id="19" name="Text 17"/>
          <p:cNvSpPr txBox="1"/>
          <p:nvPr/>
        </p:nvSpPr>
        <p:spPr>
          <a:xfrm>
            <a:off x="3767328" y="5212080"/>
            <a:ext cx="7589520" cy="685800"/>
          </a:xfrm>
          <a:prstGeom prst="rect">
            <a:avLst/>
          </a:prstGeom>
          <a:noFill/>
          <a:ln/>
        </p:spPr>
        <p:txBody>
          <a:bodyPr wrap="square" lIns="0" tIns="0" rIns="0" bIns="0" rtlCol="0" anchor="ctr"/>
          <a:lstStyle/>
          <a:p>
            <a:pPr marL="0" indent="0">
              <a:lnSpc>
                <a:spcPct val="120000"/>
              </a:lnSpc>
              <a:buNone/>
            </a:pPr>
            <a:r>
              <a:rPr lang="en-US" sz="1250" dirty="0">
                <a:solidFill>
                  <a:srgbClr val="C3D2B8"/>
                </a:solidFill>
                <a:latin typeface="Calibri" pitchFamily="34" charset="0"/>
                <a:ea typeface="Calibri" pitchFamily="34" charset="-122"/>
                <a:cs typeface="Calibri" pitchFamily="34" charset="-120"/>
              </a:rPr>
              <a:t>Two locked variants, designed together, switched by the site's language toggle.</a:t>
            </a:r>
            <a:endParaRPr lang="en-US" sz="1250" dirty="0"/>
          </a:p>
        </p:txBody>
      </p:sp>
      <p:sp>
        <p:nvSpPr>
          <p:cNvPr id="20" name="Text 18"/>
          <p:cNvSpPr txBox="1"/>
          <p:nvPr/>
        </p:nvSpPr>
        <p:spPr>
          <a:xfrm>
            <a:off x="566928" y="6172200"/>
            <a:ext cx="10058400" cy="320040"/>
          </a:xfrm>
          <a:prstGeom prst="rect">
            <a:avLst/>
          </a:prstGeom>
          <a:noFill/>
          <a:ln/>
        </p:spPr>
        <p:txBody>
          <a:bodyPr wrap="square" lIns="0" tIns="0" rIns="0" bIns="0" rtlCol="0" anchor="ctr"/>
          <a:lstStyle/>
          <a:p>
            <a:pPr marL="0" indent="0">
              <a:buNone/>
            </a:pPr>
            <a:r>
              <a:rPr lang="en-US" sz="1250" i="1" dirty="0">
                <a:solidFill>
                  <a:srgbClr val="7E9270"/>
                </a:solidFill>
                <a:latin typeface="Calibri" pitchFamily="34" charset="0"/>
                <a:ea typeface="Calibri" pitchFamily="34" charset="-122"/>
                <a:cs typeface="Calibri" pitchFamily="34" charset="-120"/>
              </a:rPr>
              <a:t>None of this is settled. The purpose of the deck is to give you something specific to disagree with.</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84048"/>
            <a:ext cx="11027664" cy="640080"/>
          </a:xfrm>
          <a:prstGeom prst="rect">
            <a:avLst/>
          </a:prstGeom>
          <a:noFill/>
          <a:ln/>
        </p:spPr>
        <p:txBody>
          <a:bodyPr wrap="square" lIns="0" tIns="0" rIns="0" bIns="0" rtlCol="0" anchor="ctr"/>
          <a:lstStyle/>
          <a:p>
            <a:pPr marL="0" indent="0">
              <a:buNone/>
            </a:pPr>
            <a:r>
              <a:rPr lang="en-US" sz="3400" b="1" dirty="0">
                <a:solidFill>
                  <a:srgbClr val="1B2A18"/>
                </a:solidFill>
                <a:latin typeface="Calibri" pitchFamily="34" charset="0"/>
                <a:ea typeface="Calibri" pitchFamily="34" charset="-122"/>
                <a:cs typeface="Calibri" pitchFamily="34" charset="-120"/>
              </a:rPr>
              <a:t>Decision sheet</a:t>
            </a:r>
            <a:endParaRPr lang="en-US" sz="3400" dirty="0"/>
          </a:p>
        </p:txBody>
      </p:sp>
      <p:sp>
        <p:nvSpPr>
          <p:cNvPr id="3" name="Text 1"/>
          <p:cNvSpPr txBox="1"/>
          <p:nvPr/>
        </p:nvSpPr>
        <p:spPr>
          <a:xfrm>
            <a:off x="566928" y="1024128"/>
            <a:ext cx="11027664" cy="384048"/>
          </a:xfrm>
          <a:prstGeom prst="rect">
            <a:avLst/>
          </a:prstGeom>
          <a:noFill/>
          <a:ln/>
        </p:spPr>
        <p:txBody>
          <a:bodyPr wrap="square" lIns="0" tIns="0" rIns="0" bIns="0" rtlCol="0" anchor="ctr"/>
          <a:lstStyle/>
          <a:p>
            <a:pPr marL="0" indent="0">
              <a:buNone/>
            </a:pPr>
            <a:r>
              <a:rPr lang="en-US" sz="1500" dirty="0">
                <a:solidFill>
                  <a:srgbClr val="5B6B57"/>
                </a:solidFill>
                <a:latin typeface="Calibri" pitchFamily="34" charset="0"/>
                <a:ea typeface="Calibri" pitchFamily="34" charset="-122"/>
                <a:cs typeface="Calibri" pitchFamily="34" charset="-120"/>
              </a:rPr>
              <a:t>Circle one per row and return. Build starts from this page.</a:t>
            </a:r>
            <a:endParaRPr lang="en-US" sz="1500" dirty="0"/>
          </a:p>
        </p:txBody>
      </p:sp>
      <p:sp>
        <p:nvSpPr>
          <p:cNvPr id="4" name="Shape 2"/>
          <p:cNvSpPr/>
          <p:nvPr/>
        </p:nvSpPr>
        <p:spPr>
          <a:xfrm>
            <a:off x="566928" y="1664208"/>
            <a:ext cx="11027664" cy="566928"/>
          </a:xfrm>
          <a:prstGeom prst="roundRect">
            <a:avLst>
              <a:gd name="adj" fmla="val 9677"/>
            </a:avLst>
          </a:prstGeom>
          <a:solidFill>
            <a:srgbClr val="FFFFFF"/>
          </a:solidFill>
          <a:ln w="12700">
            <a:solidFill>
              <a:srgbClr val="D8E7C4"/>
            </a:solidFill>
            <a:prstDash val="solid"/>
          </a:ln>
        </p:spPr>
        <p:txBody>
          <a:bodyPr/>
          <a:lstStyle/>
          <a:p>
            <a:endParaRPr lang="en-US"/>
          </a:p>
        </p:txBody>
      </p:sp>
      <p:sp>
        <p:nvSpPr>
          <p:cNvPr id="5" name="Text 3"/>
          <p:cNvSpPr txBox="1"/>
          <p:nvPr/>
        </p:nvSpPr>
        <p:spPr>
          <a:xfrm>
            <a:off x="822960" y="1801368"/>
            <a:ext cx="2286000" cy="310896"/>
          </a:xfrm>
          <a:prstGeom prst="rect">
            <a:avLst/>
          </a:prstGeom>
          <a:noFill/>
          <a:ln/>
        </p:spPr>
        <p:txBody>
          <a:bodyPr wrap="square" lIns="0" tIns="0" rIns="0" bIns="0" rtlCol="0" anchor="ctr"/>
          <a:lstStyle/>
          <a:p>
            <a:pPr marL="0" indent="0">
              <a:buNone/>
            </a:pPr>
            <a:r>
              <a:rPr lang="en-US" sz="1400" b="1" dirty="0">
                <a:solidFill>
                  <a:srgbClr val="1B2A18"/>
                </a:solidFill>
                <a:latin typeface="Calibri" pitchFamily="34" charset="0"/>
                <a:ea typeface="Calibri" pitchFamily="34" charset="-122"/>
                <a:cs typeface="Calibri" pitchFamily="34" charset="-120"/>
              </a:rPr>
              <a:t>Logo direction</a:t>
            </a:r>
            <a:endParaRPr lang="en-US" sz="1400" dirty="0"/>
          </a:p>
        </p:txBody>
      </p:sp>
      <p:sp>
        <p:nvSpPr>
          <p:cNvPr id="6" name="Text 4"/>
          <p:cNvSpPr txBox="1"/>
          <p:nvPr/>
        </p:nvSpPr>
        <p:spPr>
          <a:xfrm>
            <a:off x="3310128" y="1801368"/>
            <a:ext cx="8138160" cy="310896"/>
          </a:xfrm>
          <a:prstGeom prst="rect">
            <a:avLst/>
          </a:prstGeom>
          <a:noFill/>
          <a:ln/>
        </p:spPr>
        <p:txBody>
          <a:bodyPr wrap="square" lIns="0" tIns="0" rIns="0" bIns="0" rtlCol="0" anchor="ctr"/>
          <a:lstStyle/>
          <a:p>
            <a:pPr marL="0" indent="0">
              <a:buNone/>
            </a:pPr>
            <a:r>
              <a:rPr lang="en-US" sz="1300" dirty="0">
                <a:solidFill>
                  <a:srgbClr val="5B6B57"/>
                </a:solidFill>
                <a:latin typeface="Calibri" pitchFamily="34" charset="0"/>
                <a:ea typeface="Calibri" pitchFamily="34" charset="-122"/>
                <a:cs typeface="Calibri" pitchFamily="34" charset="-120"/>
              </a:rPr>
              <a:t>01 Ring   ·   02 Gimel   ·   03 Cycle   ·   04 Bracket   ·   05 Sheet   ·   06 Leaf</a:t>
            </a:r>
            <a:endParaRPr lang="en-US" sz="1300" dirty="0"/>
          </a:p>
        </p:txBody>
      </p:sp>
      <p:sp>
        <p:nvSpPr>
          <p:cNvPr id="7" name="Shape 5"/>
          <p:cNvSpPr/>
          <p:nvPr/>
        </p:nvSpPr>
        <p:spPr>
          <a:xfrm>
            <a:off x="566928" y="2359152"/>
            <a:ext cx="11027664" cy="566928"/>
          </a:xfrm>
          <a:prstGeom prst="roundRect">
            <a:avLst>
              <a:gd name="adj" fmla="val 9677"/>
            </a:avLst>
          </a:prstGeom>
          <a:solidFill>
            <a:srgbClr val="F2F8E9"/>
          </a:solidFill>
          <a:ln w="12700">
            <a:solidFill>
              <a:srgbClr val="D8E7C4"/>
            </a:solidFill>
            <a:prstDash val="solid"/>
          </a:ln>
        </p:spPr>
        <p:txBody>
          <a:bodyPr/>
          <a:lstStyle/>
          <a:p>
            <a:endParaRPr lang="en-US"/>
          </a:p>
        </p:txBody>
      </p:sp>
      <p:sp>
        <p:nvSpPr>
          <p:cNvPr id="8" name="Text 6"/>
          <p:cNvSpPr txBox="1"/>
          <p:nvPr/>
        </p:nvSpPr>
        <p:spPr>
          <a:xfrm>
            <a:off x="822960" y="2496312"/>
            <a:ext cx="2286000" cy="310896"/>
          </a:xfrm>
          <a:prstGeom prst="rect">
            <a:avLst/>
          </a:prstGeom>
          <a:noFill/>
          <a:ln/>
        </p:spPr>
        <p:txBody>
          <a:bodyPr wrap="square" lIns="0" tIns="0" rIns="0" bIns="0" rtlCol="0" anchor="ctr"/>
          <a:lstStyle/>
          <a:p>
            <a:pPr marL="0" indent="0">
              <a:buNone/>
            </a:pPr>
            <a:r>
              <a:rPr lang="en-US" sz="1400" b="1" dirty="0">
                <a:solidFill>
                  <a:srgbClr val="1B2A18"/>
                </a:solidFill>
                <a:latin typeface="Calibri" pitchFamily="34" charset="0"/>
                <a:ea typeface="Calibri" pitchFamily="34" charset="-122"/>
                <a:cs typeface="Calibri" pitchFamily="34" charset="-120"/>
              </a:rPr>
              <a:t>Palette</a:t>
            </a:r>
            <a:endParaRPr lang="en-US" sz="1400" dirty="0"/>
          </a:p>
        </p:txBody>
      </p:sp>
      <p:sp>
        <p:nvSpPr>
          <p:cNvPr id="9" name="Text 7"/>
          <p:cNvSpPr txBox="1"/>
          <p:nvPr/>
        </p:nvSpPr>
        <p:spPr>
          <a:xfrm>
            <a:off x="3310128" y="2496312"/>
            <a:ext cx="8138160" cy="310896"/>
          </a:xfrm>
          <a:prstGeom prst="rect">
            <a:avLst/>
          </a:prstGeom>
          <a:noFill/>
          <a:ln/>
        </p:spPr>
        <p:txBody>
          <a:bodyPr wrap="square" lIns="0" tIns="0" rIns="0" bIns="0" rtlCol="0" anchor="ctr"/>
          <a:lstStyle/>
          <a:p>
            <a:pPr marL="0" indent="0">
              <a:buNone/>
            </a:pPr>
            <a:r>
              <a:rPr lang="en-US" sz="1300" dirty="0">
                <a:solidFill>
                  <a:srgbClr val="5B6B57"/>
                </a:solidFill>
                <a:latin typeface="Calibri" pitchFamily="34" charset="0"/>
                <a:ea typeface="Calibri" pitchFamily="34" charset="-122"/>
                <a:cs typeface="Calibri" pitchFamily="34" charset="-120"/>
              </a:rPr>
              <a:t>A Continuity   ·   B Warm contrast   ·   C Technical</a:t>
            </a:r>
            <a:endParaRPr lang="en-US" sz="1300" dirty="0"/>
          </a:p>
        </p:txBody>
      </p:sp>
      <p:sp>
        <p:nvSpPr>
          <p:cNvPr id="10" name="Shape 8"/>
          <p:cNvSpPr/>
          <p:nvPr/>
        </p:nvSpPr>
        <p:spPr>
          <a:xfrm>
            <a:off x="566928" y="3054096"/>
            <a:ext cx="11027664" cy="566928"/>
          </a:xfrm>
          <a:prstGeom prst="roundRect">
            <a:avLst>
              <a:gd name="adj" fmla="val 9677"/>
            </a:avLst>
          </a:prstGeom>
          <a:solidFill>
            <a:srgbClr val="FFFFFF"/>
          </a:solidFill>
          <a:ln w="12700">
            <a:solidFill>
              <a:srgbClr val="D8E7C4"/>
            </a:solidFill>
            <a:prstDash val="solid"/>
          </a:ln>
        </p:spPr>
        <p:txBody>
          <a:bodyPr/>
          <a:lstStyle/>
          <a:p>
            <a:endParaRPr lang="en-US"/>
          </a:p>
        </p:txBody>
      </p:sp>
      <p:sp>
        <p:nvSpPr>
          <p:cNvPr id="11" name="Text 9"/>
          <p:cNvSpPr txBox="1"/>
          <p:nvPr/>
        </p:nvSpPr>
        <p:spPr>
          <a:xfrm>
            <a:off x="822960" y="3191256"/>
            <a:ext cx="2286000" cy="310896"/>
          </a:xfrm>
          <a:prstGeom prst="rect">
            <a:avLst/>
          </a:prstGeom>
          <a:noFill/>
          <a:ln/>
        </p:spPr>
        <p:txBody>
          <a:bodyPr wrap="square" lIns="0" tIns="0" rIns="0" bIns="0" rtlCol="0" anchor="ctr"/>
          <a:lstStyle/>
          <a:p>
            <a:pPr marL="0" indent="0">
              <a:buNone/>
            </a:pPr>
            <a:r>
              <a:rPr lang="en-US" sz="1400" b="1" dirty="0">
                <a:solidFill>
                  <a:srgbClr val="1B2A18"/>
                </a:solidFill>
                <a:latin typeface="Calibri" pitchFamily="34" charset="0"/>
                <a:ea typeface="Calibri" pitchFamily="34" charset="-122"/>
                <a:cs typeface="Calibri" pitchFamily="34" charset="-120"/>
              </a:rPr>
              <a:t>Typeface</a:t>
            </a:r>
            <a:endParaRPr lang="en-US" sz="1400" dirty="0"/>
          </a:p>
        </p:txBody>
      </p:sp>
      <p:sp>
        <p:nvSpPr>
          <p:cNvPr id="12" name="Text 10"/>
          <p:cNvSpPr txBox="1"/>
          <p:nvPr/>
        </p:nvSpPr>
        <p:spPr>
          <a:xfrm>
            <a:off x="3310128" y="3191256"/>
            <a:ext cx="8138160" cy="310896"/>
          </a:xfrm>
          <a:prstGeom prst="rect">
            <a:avLst/>
          </a:prstGeom>
          <a:noFill/>
          <a:ln/>
        </p:spPr>
        <p:txBody>
          <a:bodyPr wrap="square" lIns="0" tIns="0" rIns="0" bIns="0" rtlCol="0" anchor="ctr"/>
          <a:lstStyle/>
          <a:p>
            <a:pPr marL="0" indent="0">
              <a:buNone/>
            </a:pPr>
            <a:r>
              <a:rPr lang="en-US" sz="1300" dirty="0">
                <a:solidFill>
                  <a:srgbClr val="5B6B57"/>
                </a:solidFill>
                <a:latin typeface="Calibri" pitchFamily="34" charset="0"/>
                <a:ea typeface="Calibri" pitchFamily="34" charset="-122"/>
                <a:cs typeface="Calibri" pitchFamily="34" charset="-120"/>
              </a:rPr>
              <a:t>Noto Sans   ·   Inter + Source Serif   ·   Assistant</a:t>
            </a:r>
            <a:endParaRPr lang="en-US" sz="1300" dirty="0"/>
          </a:p>
        </p:txBody>
      </p:sp>
      <p:sp>
        <p:nvSpPr>
          <p:cNvPr id="13" name="Shape 11"/>
          <p:cNvSpPr/>
          <p:nvPr/>
        </p:nvSpPr>
        <p:spPr>
          <a:xfrm>
            <a:off x="566928" y="3749040"/>
            <a:ext cx="11027664" cy="566928"/>
          </a:xfrm>
          <a:prstGeom prst="roundRect">
            <a:avLst>
              <a:gd name="adj" fmla="val 9677"/>
            </a:avLst>
          </a:prstGeom>
          <a:solidFill>
            <a:srgbClr val="F2F8E9"/>
          </a:solidFill>
          <a:ln w="12700">
            <a:solidFill>
              <a:srgbClr val="D8E7C4"/>
            </a:solidFill>
            <a:prstDash val="solid"/>
          </a:ln>
        </p:spPr>
        <p:txBody>
          <a:bodyPr/>
          <a:lstStyle/>
          <a:p>
            <a:endParaRPr lang="en-US"/>
          </a:p>
        </p:txBody>
      </p:sp>
      <p:sp>
        <p:nvSpPr>
          <p:cNvPr id="14" name="Text 12"/>
          <p:cNvSpPr txBox="1"/>
          <p:nvPr/>
        </p:nvSpPr>
        <p:spPr>
          <a:xfrm>
            <a:off x="822960" y="3886200"/>
            <a:ext cx="2286000" cy="310896"/>
          </a:xfrm>
          <a:prstGeom prst="rect">
            <a:avLst/>
          </a:prstGeom>
          <a:noFill/>
          <a:ln/>
        </p:spPr>
        <p:txBody>
          <a:bodyPr wrap="square" lIns="0" tIns="0" rIns="0" bIns="0" rtlCol="0" anchor="ctr"/>
          <a:lstStyle/>
          <a:p>
            <a:pPr marL="0" indent="0">
              <a:buNone/>
            </a:pPr>
            <a:r>
              <a:rPr lang="en-US" sz="1400" b="1" dirty="0">
                <a:solidFill>
                  <a:srgbClr val="1B2A18"/>
                </a:solidFill>
                <a:latin typeface="Calibri" pitchFamily="34" charset="0"/>
                <a:ea typeface="Calibri" pitchFamily="34" charset="-122"/>
                <a:cs typeface="Calibri" pitchFamily="34" charset="-120"/>
              </a:rPr>
              <a:t>Wordmark</a:t>
            </a:r>
            <a:endParaRPr lang="en-US" sz="1400" dirty="0"/>
          </a:p>
        </p:txBody>
      </p:sp>
      <p:sp>
        <p:nvSpPr>
          <p:cNvPr id="15" name="Text 13"/>
          <p:cNvSpPr txBox="1"/>
          <p:nvPr/>
        </p:nvSpPr>
        <p:spPr>
          <a:xfrm>
            <a:off x="3310128" y="3886200"/>
            <a:ext cx="8138160" cy="310896"/>
          </a:xfrm>
          <a:prstGeom prst="rect">
            <a:avLst/>
          </a:prstGeom>
          <a:noFill/>
          <a:ln/>
        </p:spPr>
        <p:txBody>
          <a:bodyPr wrap="square" lIns="0" tIns="0" rIns="0" bIns="0" rtlCol="0" anchor="ctr"/>
          <a:lstStyle/>
          <a:p>
            <a:pPr marL="0" indent="0">
              <a:buNone/>
            </a:pPr>
            <a:r>
              <a:rPr lang="en-US" sz="1300" dirty="0">
                <a:solidFill>
                  <a:srgbClr val="5B6B57"/>
                </a:solidFill>
                <a:latin typeface="Calibri" pitchFamily="34" charset="0"/>
                <a:ea typeface="Calibri" pitchFamily="34" charset="-122"/>
                <a:cs typeface="Calibri" pitchFamily="34" charset="-120"/>
              </a:rPr>
              <a:t>Latin only   ·   Latin + Hebrew paired   ·   Hebrew primary</a:t>
            </a:r>
            <a:endParaRPr lang="en-US" sz="1300" dirty="0"/>
          </a:p>
        </p:txBody>
      </p:sp>
      <p:sp>
        <p:nvSpPr>
          <p:cNvPr id="16" name="Shape 14"/>
          <p:cNvSpPr/>
          <p:nvPr/>
        </p:nvSpPr>
        <p:spPr>
          <a:xfrm>
            <a:off x="566928" y="4443984"/>
            <a:ext cx="11027664" cy="566928"/>
          </a:xfrm>
          <a:prstGeom prst="roundRect">
            <a:avLst>
              <a:gd name="adj" fmla="val 9677"/>
            </a:avLst>
          </a:prstGeom>
          <a:solidFill>
            <a:srgbClr val="FFFFFF"/>
          </a:solidFill>
          <a:ln w="12700">
            <a:solidFill>
              <a:srgbClr val="D8E7C4"/>
            </a:solidFill>
            <a:prstDash val="solid"/>
          </a:ln>
        </p:spPr>
        <p:txBody>
          <a:bodyPr/>
          <a:lstStyle/>
          <a:p>
            <a:endParaRPr lang="en-US"/>
          </a:p>
        </p:txBody>
      </p:sp>
      <p:sp>
        <p:nvSpPr>
          <p:cNvPr id="17" name="Text 15"/>
          <p:cNvSpPr txBox="1"/>
          <p:nvPr/>
        </p:nvSpPr>
        <p:spPr>
          <a:xfrm>
            <a:off x="822960" y="4581144"/>
            <a:ext cx="2286000" cy="310896"/>
          </a:xfrm>
          <a:prstGeom prst="rect">
            <a:avLst/>
          </a:prstGeom>
          <a:noFill/>
          <a:ln/>
        </p:spPr>
        <p:txBody>
          <a:bodyPr wrap="square" lIns="0" tIns="0" rIns="0" bIns="0" rtlCol="0" anchor="ctr"/>
          <a:lstStyle/>
          <a:p>
            <a:pPr marL="0" indent="0">
              <a:buNone/>
            </a:pPr>
            <a:r>
              <a:rPr lang="en-US" sz="1400" b="1" dirty="0">
                <a:solidFill>
                  <a:srgbClr val="1B2A18"/>
                </a:solidFill>
                <a:latin typeface="Calibri" pitchFamily="34" charset="0"/>
                <a:ea typeface="Calibri" pitchFamily="34" charset="-122"/>
                <a:cs typeface="Calibri" pitchFamily="34" charset="-120"/>
              </a:rPr>
              <a:t>Website scope</a:t>
            </a:r>
            <a:endParaRPr lang="en-US" sz="1400" dirty="0"/>
          </a:p>
        </p:txBody>
      </p:sp>
      <p:sp>
        <p:nvSpPr>
          <p:cNvPr id="18" name="Text 16"/>
          <p:cNvSpPr txBox="1"/>
          <p:nvPr/>
        </p:nvSpPr>
        <p:spPr>
          <a:xfrm>
            <a:off x="3310128" y="4581144"/>
            <a:ext cx="8138160" cy="310896"/>
          </a:xfrm>
          <a:prstGeom prst="rect">
            <a:avLst/>
          </a:prstGeom>
          <a:noFill/>
          <a:ln/>
        </p:spPr>
        <p:txBody>
          <a:bodyPr wrap="square" lIns="0" tIns="0" rIns="0" bIns="0" rtlCol="0" anchor="ctr"/>
          <a:lstStyle/>
          <a:p>
            <a:pPr marL="0" indent="0">
              <a:buNone/>
            </a:pPr>
            <a:r>
              <a:rPr lang="en-US" sz="1300" dirty="0">
                <a:solidFill>
                  <a:srgbClr val="5B6B57"/>
                </a:solidFill>
                <a:latin typeface="Calibri" pitchFamily="34" charset="0"/>
                <a:ea typeface="Calibri" pitchFamily="34" charset="-122"/>
                <a:cs typeface="Calibri" pitchFamily="34" charset="-120"/>
              </a:rPr>
              <a:t>Refresh existing pages   ·   Rebuild as single page   ·   Rebuild multi-page</a:t>
            </a:r>
            <a:endParaRPr lang="en-US" sz="1300" dirty="0"/>
          </a:p>
        </p:txBody>
      </p:sp>
      <p:sp>
        <p:nvSpPr>
          <p:cNvPr id="19" name="Shape 17"/>
          <p:cNvSpPr/>
          <p:nvPr/>
        </p:nvSpPr>
        <p:spPr>
          <a:xfrm>
            <a:off x="566928" y="5138928"/>
            <a:ext cx="11027664" cy="566928"/>
          </a:xfrm>
          <a:prstGeom prst="roundRect">
            <a:avLst>
              <a:gd name="adj" fmla="val 9677"/>
            </a:avLst>
          </a:prstGeom>
          <a:solidFill>
            <a:srgbClr val="F2F8E9"/>
          </a:solidFill>
          <a:ln w="12700">
            <a:solidFill>
              <a:srgbClr val="D8E7C4"/>
            </a:solidFill>
            <a:prstDash val="solid"/>
          </a:ln>
        </p:spPr>
        <p:txBody>
          <a:bodyPr/>
          <a:lstStyle/>
          <a:p>
            <a:endParaRPr lang="en-US"/>
          </a:p>
        </p:txBody>
      </p:sp>
      <p:sp>
        <p:nvSpPr>
          <p:cNvPr id="20" name="Text 18"/>
          <p:cNvSpPr txBox="1"/>
          <p:nvPr/>
        </p:nvSpPr>
        <p:spPr>
          <a:xfrm>
            <a:off x="822960" y="5276088"/>
            <a:ext cx="2286000" cy="310896"/>
          </a:xfrm>
          <a:prstGeom prst="rect">
            <a:avLst/>
          </a:prstGeom>
          <a:noFill/>
          <a:ln/>
        </p:spPr>
        <p:txBody>
          <a:bodyPr wrap="square" lIns="0" tIns="0" rIns="0" bIns="0" rtlCol="0" anchor="ctr"/>
          <a:lstStyle/>
          <a:p>
            <a:pPr marL="0" indent="0">
              <a:buNone/>
            </a:pPr>
            <a:r>
              <a:rPr lang="en-US" sz="1400" b="1" dirty="0">
                <a:solidFill>
                  <a:srgbClr val="1B2A18"/>
                </a:solidFill>
                <a:latin typeface="Calibri" pitchFamily="34" charset="0"/>
                <a:ea typeface="Calibri" pitchFamily="34" charset="-122"/>
                <a:cs typeface="Calibri" pitchFamily="34" charset="-120"/>
              </a:rPr>
              <a:t>Timing</a:t>
            </a:r>
            <a:endParaRPr lang="en-US" sz="1400" dirty="0"/>
          </a:p>
        </p:txBody>
      </p:sp>
      <p:sp>
        <p:nvSpPr>
          <p:cNvPr id="21" name="Text 19"/>
          <p:cNvSpPr txBox="1"/>
          <p:nvPr/>
        </p:nvSpPr>
        <p:spPr>
          <a:xfrm>
            <a:off x="3310128" y="5276088"/>
            <a:ext cx="8138160" cy="310896"/>
          </a:xfrm>
          <a:prstGeom prst="rect">
            <a:avLst/>
          </a:prstGeom>
          <a:noFill/>
          <a:ln/>
        </p:spPr>
        <p:txBody>
          <a:bodyPr wrap="square" lIns="0" tIns="0" rIns="0" bIns="0" rtlCol="0" anchor="ctr"/>
          <a:lstStyle/>
          <a:p>
            <a:pPr marL="0" indent="0">
              <a:buNone/>
            </a:pPr>
            <a:r>
              <a:rPr lang="en-US" sz="1300" dirty="0">
                <a:solidFill>
                  <a:srgbClr val="5B6B57"/>
                </a:solidFill>
                <a:latin typeface="Calibri" pitchFamily="34" charset="0"/>
                <a:ea typeface="Calibri" pitchFamily="34" charset="-122"/>
                <a:cs typeface="Calibri" pitchFamily="34" charset="-120"/>
              </a:rPr>
              <a:t>Brand first, then site   ·   Both together   ·   Site first, brand later</a:t>
            </a:r>
            <a:endParaRPr lang="en-US" sz="1300" dirty="0"/>
          </a:p>
        </p:txBody>
      </p:sp>
      <p:sp>
        <p:nvSpPr>
          <p:cNvPr id="22" name="Text 20"/>
          <p:cNvSpPr txBox="1"/>
          <p:nvPr/>
        </p:nvSpPr>
        <p:spPr>
          <a:xfrm>
            <a:off x="566928" y="6016752"/>
            <a:ext cx="11027664" cy="640080"/>
          </a:xfrm>
          <a:prstGeom prst="rect">
            <a:avLst/>
          </a:prstGeom>
          <a:noFill/>
          <a:ln/>
        </p:spPr>
        <p:txBody>
          <a:bodyPr wrap="square" lIns="0" tIns="0" rIns="0" bIns="0" rtlCol="0" anchor="ctr"/>
          <a:lstStyle/>
          <a:p>
            <a:pPr marL="0" indent="0">
              <a:lnSpc>
                <a:spcPct val="122000"/>
              </a:lnSpc>
              <a:buNone/>
            </a:pPr>
            <a:r>
              <a:rPr lang="en-US" sz="1250" b="1" dirty="0">
                <a:solidFill>
                  <a:srgbClr val="1B2A18"/>
                </a:solidFill>
                <a:latin typeface="Calibri" pitchFamily="34" charset="0"/>
                <a:ea typeface="Calibri" pitchFamily="34" charset="-122"/>
                <a:cs typeface="Calibri" pitchFamily="34" charset="-120"/>
              </a:rPr>
              <a:t>Once these six are answered:  </a:t>
            </a:r>
            <a:r>
              <a:rPr lang="en-US" sz="1250" dirty="0">
                <a:solidFill>
                  <a:srgbClr val="5B6B57"/>
                </a:solidFill>
                <a:latin typeface="Calibri" pitchFamily="34" charset="0"/>
                <a:ea typeface="Calibri" pitchFamily="34" charset="-122"/>
                <a:cs typeface="Calibri" pitchFamily="34" charset="-120"/>
              </a:rPr>
              <a:t>the chosen mark is drawn as production vector artwork in all lockups and formats, the palette and type scale are written into the WorkDesk design tokens, and the website concept is rebuilt against the decision. Two weeks.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1921</Words>
  <Application>Microsoft Office PowerPoint</Application>
  <PresentationFormat>Widescreen</PresentationFormat>
  <Paragraphs>215</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Assistant</vt:lpstr>
      <vt:lpstr>Calibri</vt:lpstr>
      <vt:lpstr>Fira Mono</vt:lpstr>
      <vt:lpstr>IBM Plex Mono</vt:lpstr>
      <vt:lpstr>Inter</vt:lpstr>
      <vt:lpstr>Noto Sans</vt:lpstr>
      <vt:lpstr>Noto Sans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GALIL — Brand Refresh Options</dc:title>
  <dc:subject>PptxGenJS Presentation</dc:subject>
  <dc:creator>GALIL Technical Writing Ltd.</dc:creator>
  <cp:lastModifiedBy>Danny Gelman</cp:lastModifiedBy>
  <cp:revision>3</cp:revision>
  <dcterms:created xsi:type="dcterms:W3CDTF">2026-09-01T10:35:36Z</dcterms:created>
  <dcterms:modified xsi:type="dcterms:W3CDTF">2026-09-04T19:17:18Z</dcterms:modified>
</cp:coreProperties>
</file>